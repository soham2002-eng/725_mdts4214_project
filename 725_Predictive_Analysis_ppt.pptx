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51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04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98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9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69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82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1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6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23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10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955FE-DB91-4514-BA87-4DBD695BDE7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B9D2363-54BC-4C10-874E-A156E601858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36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59E1-40F4-96CC-DBE9-40200DE79E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/>
              <a:t>Data Analysis of SpaceX Launch Missions-Soham Adhikary, Roll no: 725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C65FB-E429-857E-9E67-8656FA18D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3600" dirty="0"/>
              <a:t>Insights from the </a:t>
            </a:r>
            <a:r>
              <a:rPr lang="en-IN" sz="3600" dirty="0" err="1"/>
              <a:t>Spacex</a:t>
            </a:r>
            <a:r>
              <a:rPr lang="en-IN" sz="3600" dirty="0"/>
              <a:t> Launch Dataset</a:t>
            </a:r>
            <a:r>
              <a:rPr lang="en-IN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A3437-848D-6948-F82C-8D5E4A500D01}"/>
              </a:ext>
            </a:extLst>
          </p:cNvPr>
          <p:cNvSpPr txBox="1"/>
          <p:nvPr/>
        </p:nvSpPr>
        <p:spPr>
          <a:xfrm>
            <a:off x="1391478" y="5257800"/>
            <a:ext cx="927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</a:t>
            </a:r>
            <a:r>
              <a:rPr lang="en-IN" sz="3600" dirty="0"/>
              <a:t>Data-Driven Exploration of Rocketry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8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479D1-D4F3-CCA1-1E23-4D111C95D91E}"/>
              </a:ext>
            </a:extLst>
          </p:cNvPr>
          <p:cNvSpPr txBox="1"/>
          <p:nvPr/>
        </p:nvSpPr>
        <p:spPr>
          <a:xfrm>
            <a:off x="1371600" y="1053548"/>
            <a:ext cx="96608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Objectives:</a:t>
            </a:r>
          </a:p>
          <a:p>
            <a:r>
              <a:rPr lang="en-IN" sz="3600" dirty="0"/>
              <a:t>1) To determine the effect of each predictors(flight number, flights, Blocks and orbits) on the Payload Mass.</a:t>
            </a:r>
          </a:p>
          <a:p>
            <a:r>
              <a:rPr lang="en-IN" sz="3600" dirty="0"/>
              <a:t>2) To find the Multiple Linear Regression of Payload Mass on the above Predictors.</a:t>
            </a:r>
          </a:p>
          <a:p>
            <a:r>
              <a:rPr lang="en-IN" sz="3600" dirty="0"/>
              <a:t>3)To find the logistic regression of Payload Mass on the above Predictors.</a:t>
            </a:r>
          </a:p>
        </p:txBody>
      </p:sp>
    </p:spTree>
    <p:extLst>
      <p:ext uri="{BB962C8B-B14F-4D97-AF65-F5344CB8AC3E}">
        <p14:creationId xmlns:p14="http://schemas.microsoft.com/office/powerpoint/2010/main" val="40131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67BEE7-FFB9-F7F1-5065-5725220C2E17}"/>
              </a:ext>
            </a:extLst>
          </p:cNvPr>
          <p:cNvSpPr txBox="1"/>
          <p:nvPr/>
        </p:nvSpPr>
        <p:spPr>
          <a:xfrm>
            <a:off x="805070" y="675861"/>
            <a:ext cx="11072191" cy="7956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dirty="0"/>
              <a:t>rm(list=ls())</a:t>
            </a:r>
          </a:p>
          <a:p>
            <a:pPr latinLnBrk="1"/>
            <a:r>
              <a:rPr lang="en-IN" dirty="0"/>
              <a:t>&gt; library(</a:t>
            </a:r>
            <a:r>
              <a:rPr lang="en-IN" dirty="0" err="1"/>
              <a:t>tidyverse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── </a:t>
            </a:r>
            <a:r>
              <a:rPr lang="en-IN" b="1" dirty="0"/>
              <a:t>Attaching core </a:t>
            </a:r>
            <a:r>
              <a:rPr lang="en-IN" b="1" dirty="0" err="1"/>
              <a:t>tidyverse</a:t>
            </a:r>
            <a:r>
              <a:rPr lang="en-IN" b="1" dirty="0"/>
              <a:t> packages</a:t>
            </a:r>
            <a:r>
              <a:rPr lang="en-IN" dirty="0"/>
              <a:t> ──────────────────────────────────────── </a:t>
            </a:r>
            <a:r>
              <a:rPr lang="en-IN" dirty="0" err="1"/>
              <a:t>tidyverse</a:t>
            </a:r>
            <a:r>
              <a:rPr lang="en-IN" dirty="0"/>
              <a:t> 2.0.0 ──</a:t>
            </a:r>
          </a:p>
          <a:p>
            <a:pPr latinLnBrk="1"/>
            <a:r>
              <a:rPr lang="en-IN" dirty="0"/>
              <a:t>✔ </a:t>
            </a:r>
            <a:r>
              <a:rPr lang="en-IN" dirty="0" err="1"/>
              <a:t>dplyr</a:t>
            </a:r>
            <a:r>
              <a:rPr lang="en-IN" dirty="0"/>
              <a:t>     1.1.4     ✔ </a:t>
            </a:r>
            <a:r>
              <a:rPr lang="en-IN" dirty="0" err="1"/>
              <a:t>readr</a:t>
            </a:r>
            <a:r>
              <a:rPr lang="en-IN" dirty="0"/>
              <a:t>     2.1.5</a:t>
            </a:r>
          </a:p>
          <a:p>
            <a:pPr latinLnBrk="1"/>
            <a:r>
              <a:rPr lang="en-IN" dirty="0"/>
              <a:t>✔ </a:t>
            </a:r>
            <a:r>
              <a:rPr lang="en-IN" dirty="0" err="1"/>
              <a:t>forcats</a:t>
            </a:r>
            <a:r>
              <a:rPr lang="en-IN" dirty="0"/>
              <a:t>   1.0.1     ✔ </a:t>
            </a:r>
            <a:r>
              <a:rPr lang="en-IN" dirty="0" err="1"/>
              <a:t>stringr</a:t>
            </a:r>
            <a:r>
              <a:rPr lang="en-IN" dirty="0"/>
              <a:t>   1.6.0</a:t>
            </a:r>
          </a:p>
          <a:p>
            <a:pPr latinLnBrk="1"/>
            <a:r>
              <a:rPr lang="en-IN" dirty="0"/>
              <a:t>✔ ggplot2   3.5.1     ✔ </a:t>
            </a:r>
            <a:r>
              <a:rPr lang="en-IN" dirty="0" err="1"/>
              <a:t>tibble</a:t>
            </a:r>
            <a:r>
              <a:rPr lang="en-IN" dirty="0"/>
              <a:t>    3.2.1</a:t>
            </a:r>
          </a:p>
          <a:p>
            <a:pPr latinLnBrk="1"/>
            <a:r>
              <a:rPr lang="en-IN" dirty="0"/>
              <a:t>✔ </a:t>
            </a:r>
            <a:r>
              <a:rPr lang="en-IN" dirty="0" err="1"/>
              <a:t>lubridate</a:t>
            </a:r>
            <a:r>
              <a:rPr lang="en-IN" dirty="0"/>
              <a:t> 1.9.3     ✔ </a:t>
            </a:r>
            <a:r>
              <a:rPr lang="en-IN" dirty="0" err="1"/>
              <a:t>tidyr</a:t>
            </a:r>
            <a:r>
              <a:rPr lang="en-IN" dirty="0"/>
              <a:t>     1.3.1</a:t>
            </a:r>
          </a:p>
          <a:p>
            <a:pPr latinLnBrk="1"/>
            <a:r>
              <a:rPr lang="en-IN" dirty="0"/>
              <a:t>✔ </a:t>
            </a:r>
            <a:r>
              <a:rPr lang="en-IN" dirty="0" err="1"/>
              <a:t>purrr</a:t>
            </a:r>
            <a:r>
              <a:rPr lang="en-IN" dirty="0"/>
              <a:t>     1.0.2     </a:t>
            </a:r>
          </a:p>
          <a:p>
            <a:pPr latinLnBrk="1"/>
            <a:r>
              <a:rPr lang="en-IN" dirty="0"/>
              <a:t>── </a:t>
            </a:r>
            <a:r>
              <a:rPr lang="en-IN" b="1" dirty="0"/>
              <a:t>Conflicts</a:t>
            </a:r>
            <a:r>
              <a:rPr lang="en-IN" dirty="0"/>
              <a:t> ────────────────────────────────────────────────────────── </a:t>
            </a:r>
            <a:r>
              <a:rPr lang="en-IN" dirty="0" err="1"/>
              <a:t>tidyverse_conflicts</a:t>
            </a:r>
            <a:r>
              <a:rPr lang="en-IN" dirty="0"/>
              <a:t>() ──</a:t>
            </a:r>
          </a:p>
          <a:p>
            <a:pPr latinLnBrk="1"/>
            <a:r>
              <a:rPr lang="en-IN" dirty="0"/>
              <a:t>✖ </a:t>
            </a:r>
            <a:r>
              <a:rPr lang="en-IN" dirty="0" err="1"/>
              <a:t>dplyr</a:t>
            </a:r>
            <a:r>
              <a:rPr lang="en-IN" dirty="0"/>
              <a:t>::filter() masks stats::filter()</a:t>
            </a:r>
          </a:p>
          <a:p>
            <a:pPr latinLnBrk="1"/>
            <a:r>
              <a:rPr lang="en-IN" dirty="0"/>
              <a:t>✖ </a:t>
            </a:r>
            <a:r>
              <a:rPr lang="en-IN" dirty="0" err="1"/>
              <a:t>dplyr</a:t>
            </a:r>
            <a:r>
              <a:rPr lang="en-IN" dirty="0"/>
              <a:t>::lag()    masks stats::lag()</a:t>
            </a:r>
          </a:p>
          <a:p>
            <a:pPr latinLnBrk="1"/>
            <a:r>
              <a:rPr lang="en-IN" dirty="0"/>
              <a:t>ℹ Use the conflicted package to force all conflicts to become errors</a:t>
            </a:r>
          </a:p>
          <a:p>
            <a:pPr latinLnBrk="1"/>
            <a:r>
              <a:rPr lang="en-IN" dirty="0"/>
              <a:t>Warning messages:</a:t>
            </a:r>
          </a:p>
          <a:p>
            <a:pPr latinLnBrk="1"/>
            <a:r>
              <a:rPr lang="en-IN" dirty="0"/>
              <a:t>1: package ‘</a:t>
            </a:r>
            <a:r>
              <a:rPr lang="en-IN" dirty="0" err="1"/>
              <a:t>tidyverse</a:t>
            </a:r>
            <a:r>
              <a:rPr lang="en-IN" dirty="0"/>
              <a:t>’ was built under R version 4.2.3 </a:t>
            </a:r>
          </a:p>
          <a:p>
            <a:pPr latinLnBrk="1"/>
            <a:r>
              <a:rPr lang="en-IN" dirty="0"/>
              <a:t>2: package ‘ggplot2’ was built under R version 4.2.3 </a:t>
            </a:r>
          </a:p>
          <a:p>
            <a:pPr latinLnBrk="1"/>
            <a:r>
              <a:rPr lang="en-IN" dirty="0"/>
              <a:t>3: package ‘</a:t>
            </a:r>
            <a:r>
              <a:rPr lang="en-IN" dirty="0" err="1"/>
              <a:t>tibble</a:t>
            </a:r>
            <a:r>
              <a:rPr lang="en-IN" dirty="0"/>
              <a:t>’ was built under R version 4.2.3 </a:t>
            </a:r>
          </a:p>
          <a:p>
            <a:pPr latinLnBrk="1"/>
            <a:r>
              <a:rPr lang="en-IN" dirty="0"/>
              <a:t>4: package ‘</a:t>
            </a:r>
            <a:r>
              <a:rPr lang="en-IN" dirty="0" err="1"/>
              <a:t>tidyr</a:t>
            </a:r>
            <a:r>
              <a:rPr lang="en-IN" dirty="0"/>
              <a:t>’ was built under R version 4.2.3 </a:t>
            </a:r>
          </a:p>
          <a:p>
            <a:pPr latinLnBrk="1"/>
            <a:r>
              <a:rPr lang="en-IN" dirty="0"/>
              <a:t>5: package ‘</a:t>
            </a:r>
            <a:r>
              <a:rPr lang="en-IN" dirty="0" err="1"/>
              <a:t>readr</a:t>
            </a:r>
            <a:r>
              <a:rPr lang="en-IN" dirty="0"/>
              <a:t>’ was built under R version 4.2.3 </a:t>
            </a:r>
          </a:p>
          <a:p>
            <a:pPr latinLnBrk="1"/>
            <a:r>
              <a:rPr lang="en-IN" dirty="0"/>
              <a:t>6: package ‘</a:t>
            </a:r>
            <a:r>
              <a:rPr lang="en-IN" dirty="0" err="1"/>
              <a:t>purrr</a:t>
            </a:r>
            <a:r>
              <a:rPr lang="en-IN" dirty="0"/>
              <a:t>’ was built under R version 4.2.3 </a:t>
            </a:r>
          </a:p>
          <a:p>
            <a:pPr latinLnBrk="1"/>
            <a:r>
              <a:rPr lang="en-IN" dirty="0"/>
              <a:t>7: package ‘</a:t>
            </a:r>
            <a:r>
              <a:rPr lang="en-IN" dirty="0" err="1"/>
              <a:t>dplyr</a:t>
            </a:r>
            <a:r>
              <a:rPr lang="en-IN" dirty="0"/>
              <a:t>’ was built under R version 4.2.3 </a:t>
            </a:r>
          </a:p>
          <a:p>
            <a:pPr latinLnBrk="1"/>
            <a:r>
              <a:rPr lang="en-IN" dirty="0"/>
              <a:t>8: package ‘</a:t>
            </a:r>
            <a:r>
              <a:rPr lang="en-IN" dirty="0" err="1"/>
              <a:t>lubridate</a:t>
            </a:r>
            <a:r>
              <a:rPr lang="en-IN" dirty="0"/>
              <a:t>’ was built under R version 4.2.3 &gt; </a:t>
            </a:r>
            <a:r>
              <a:rPr lang="en-IN" dirty="0" err="1"/>
              <a:t>url</a:t>
            </a:r>
            <a:r>
              <a:rPr lang="en-IN" dirty="0"/>
              <a:t>="https://cf-courses-data.s3.us.cloud-object-storage.appdomain.cloud/IBM-DS0321EN-SkillsNetwork/datasets/dataset_part_2.csv"</a:t>
            </a:r>
          </a:p>
          <a:p>
            <a:pPr latinLnBrk="1"/>
            <a:r>
              <a:rPr lang="en-IN" dirty="0"/>
              <a:t>&gt; data=read.csv(</a:t>
            </a:r>
            <a:r>
              <a:rPr lang="en-IN" dirty="0" err="1"/>
              <a:t>url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&gt; data</a:t>
            </a:r>
          </a:p>
          <a:p>
            <a:pPr latinLnBrk="1"/>
            <a:r>
              <a:rPr lang="en-IN" dirty="0"/>
              <a:t>   FlightNumber       Date </a:t>
            </a:r>
            <a:r>
              <a:rPr lang="en-IN" dirty="0" err="1"/>
              <a:t>BoosterVersion</a:t>
            </a:r>
            <a:r>
              <a:rPr lang="en-IN" dirty="0"/>
              <a:t> </a:t>
            </a:r>
            <a:r>
              <a:rPr lang="en-IN" dirty="0" err="1"/>
              <a:t>PayloadMass</a:t>
            </a:r>
            <a:r>
              <a:rPr lang="en-IN" dirty="0"/>
              <a:t> Orbit   </a:t>
            </a:r>
            <a:r>
              <a:rPr lang="en-IN" dirty="0" err="1"/>
              <a:t>LaunchSite</a:t>
            </a:r>
            <a:r>
              <a:rPr lang="en-IN" dirty="0"/>
              <a:t>     Outcome Flights</a:t>
            </a:r>
          </a:p>
          <a:p>
            <a:pPr latinLnBrk="1"/>
            <a:r>
              <a:rPr lang="en-IN" dirty="0"/>
              <a:t>1             1 2010-06-04       Falcon 9    6104.959   LEO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2             2 2012-05-22       Falcon 9     525.000   LEO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3             3 2013-03-01       Falcon 9     677.000   ISS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4             4 2013-09-29       Falcon 9     500.000    PO  VAFB SLC 4E False Ocean       1</a:t>
            </a:r>
          </a:p>
          <a:p>
            <a:pPr latinLnBrk="1"/>
            <a:r>
              <a:rPr lang="en-IN" dirty="0"/>
              <a:t>5             5 2013-12-03       Falcon 9    3170.000   GTO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6             6 2014-01-06       Falcon 9    3325.000   GTO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7             7 2014-04-18       Falcon 9    2296.000   ISS CCAFS SLC 40  True Ocean       1</a:t>
            </a:r>
          </a:p>
          <a:p>
            <a:pPr latinLnBrk="1"/>
            <a:r>
              <a:rPr lang="en-IN" dirty="0"/>
              <a:t>8             8 2014-07-14       Falcon 9    1316.000   LEO CCAFS SLC 40  True Ocean       1</a:t>
            </a:r>
          </a:p>
          <a:p>
            <a:pPr latinLnBrk="1"/>
            <a:r>
              <a:rPr lang="en-IN" dirty="0"/>
              <a:t>9             9 2014-08-05       Falcon 9    4535.000   GTO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10           10 2014-09-07       Falcon 9    4428.000   GTO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11           11 2014-09-21       Falcon 9    2216.000   ISS CCAFS SLC 40 False Ocean       1</a:t>
            </a:r>
          </a:p>
          <a:p>
            <a:pPr latinLnBrk="1"/>
            <a:r>
              <a:rPr lang="en-IN" dirty="0"/>
              <a:t>12           12 2015-01-10       Falcon 9    2395.000   ISS CCAFS SLC 40  False ASDS       1</a:t>
            </a:r>
          </a:p>
          <a:p>
            <a:pPr latinLnBrk="1"/>
            <a:r>
              <a:rPr lang="en-IN" dirty="0"/>
              <a:t>13           13 2015-02-11       Falcon 9     570.000 ES-L1 CCAFS SLC 40  True Ocean       1</a:t>
            </a:r>
          </a:p>
          <a:p>
            <a:pPr latinLnBrk="1"/>
            <a:r>
              <a:rPr lang="en-IN" dirty="0"/>
              <a:t>14           14 2015-04-14       Falcon 9    1898.000   ISS CCAFS SLC 40  False ASDS       1</a:t>
            </a:r>
          </a:p>
          <a:p>
            <a:pPr latinLnBrk="1"/>
            <a:r>
              <a:rPr lang="en-IN" dirty="0"/>
              <a:t>15           15 2015-04-27       Falcon 9    4707.000   GTO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16           16 2015-06-28       Falcon 9    2477.000   ISS CCAFS SLC 40   None ASDS       1</a:t>
            </a:r>
          </a:p>
          <a:p>
            <a:pPr latinLnBrk="1"/>
            <a:r>
              <a:rPr lang="en-IN" dirty="0"/>
              <a:t>17           17 2015-12-22       Falcon 9    2034.000   LEO CCAFS SLC 40   True RTLS       1</a:t>
            </a:r>
          </a:p>
          <a:p>
            <a:pPr latinLnBrk="1"/>
            <a:r>
              <a:rPr lang="en-IN" dirty="0"/>
              <a:t>18           18 2016-01-17       Falcon 9     553.000    PO  VAFB SLC 4E  False ASDS       1</a:t>
            </a:r>
          </a:p>
          <a:p>
            <a:pPr latinLnBrk="1"/>
            <a:r>
              <a:rPr lang="en-IN" dirty="0"/>
              <a:t>19           19 2016-03-04       Falcon 9    5271.000   GTO CCAFS SLC 40  False ASDS       1</a:t>
            </a:r>
          </a:p>
          <a:p>
            <a:pPr latinLnBrk="1"/>
            <a:r>
              <a:rPr lang="en-IN" dirty="0"/>
              <a:t>20           20 2016-04-08       Falcon 9    3136.000   ISS CCAFS SLC 40   True ASDS       1</a:t>
            </a:r>
          </a:p>
          <a:p>
            <a:pPr latinLnBrk="1"/>
            <a:r>
              <a:rPr lang="en-IN" dirty="0"/>
              <a:t>21           21 2016-05-06       Falcon 9    4696.000   GTO CCAFS SLC 40   True ASDS       1</a:t>
            </a:r>
          </a:p>
          <a:p>
            <a:pPr latinLnBrk="1"/>
            <a:r>
              <a:rPr lang="en-IN" dirty="0"/>
              <a:t>22           22 2016-05-27       Falcon 9    3100.000   GTO CCAFS SLC 40   True ASDS       1</a:t>
            </a:r>
          </a:p>
          <a:p>
            <a:pPr latinLnBrk="1"/>
            <a:r>
              <a:rPr lang="en-IN" dirty="0"/>
              <a:t>23           23 2016-07-18       Falcon 9    2257.000   ISS CCAFS SLC 40   True RTLS       1</a:t>
            </a:r>
          </a:p>
          <a:p>
            <a:pPr latinLnBrk="1"/>
            <a:r>
              <a:rPr lang="en-IN" dirty="0"/>
              <a:t>24           24 2016-08-14       Falcon 9    4600.000   GTO CCAFS SLC 40   True ASDS       1</a:t>
            </a:r>
          </a:p>
          <a:p>
            <a:pPr latinLnBrk="1"/>
            <a:r>
              <a:rPr lang="en-IN" dirty="0"/>
              <a:t>25           25 2016-09-01       Falcon 9    5500.000   GTO CCAFS SLC 40   None ASDS       1</a:t>
            </a:r>
          </a:p>
          <a:p>
            <a:pPr latinLnBrk="1"/>
            <a:r>
              <a:rPr lang="en-IN" dirty="0"/>
              <a:t>26           26 2017-01-14       Falcon 9    9600.000    PO  VAFB SLC 4E   True ASDS       1</a:t>
            </a:r>
          </a:p>
          <a:p>
            <a:pPr latinLnBrk="1"/>
            <a:r>
              <a:rPr lang="en-IN" dirty="0"/>
              <a:t>27           27 2017-02-19       Falcon 9    2490.000   ISS   KSC LC 39A   True RTLS       1</a:t>
            </a:r>
          </a:p>
          <a:p>
            <a:pPr latinLnBrk="1"/>
            <a:r>
              <a:rPr lang="en-IN" dirty="0"/>
              <a:t>28           28 2017-03-16       Falcon 9    5600.000   GTO   KSC LC 39A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29           29 2017-03-30       Falcon 9    5300.000   GTO   KSC LC 39A   True ASDS       2</a:t>
            </a:r>
          </a:p>
          <a:p>
            <a:pPr latinLnBrk="1"/>
            <a:r>
              <a:rPr lang="en-IN" dirty="0"/>
              <a:t>30           30 2017-05-01       Falcon 9    6104.959   LEO   KSC LC 39A   True RTLS       1</a:t>
            </a:r>
          </a:p>
          <a:p>
            <a:pPr latinLnBrk="1"/>
            <a:r>
              <a:rPr lang="en-IN" dirty="0"/>
              <a:t>31           31 2017-05-15       Falcon 9    6070.000   GTO   KSC LC 39A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32           32 2017-06-03       Falcon 9    2708.000   ISS   KSC LC 39A   True RTLS       1</a:t>
            </a:r>
          </a:p>
          <a:p>
            <a:pPr latinLnBrk="1"/>
            <a:r>
              <a:rPr lang="en-IN" dirty="0"/>
              <a:t>33           33 2017-06-23       Falcon 9    3669.000   GTO   KSC LC 39A   True ASDS       2</a:t>
            </a:r>
          </a:p>
          <a:p>
            <a:pPr latinLnBrk="1"/>
            <a:r>
              <a:rPr lang="en-IN" dirty="0"/>
              <a:t>34           34 2017-06-25       Falcon 9    9600.000    PO  VAFB SLC 4E   True ASDS       1</a:t>
            </a:r>
          </a:p>
          <a:p>
            <a:pPr latinLnBrk="1"/>
            <a:r>
              <a:rPr lang="en-IN" dirty="0"/>
              <a:t>35           35 2017-07-05       Falcon 9    6761.000   GTO   KSC LC 39A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36           36 2017-08-14       Falcon 9    2910.000   ISS   KSC LC 39A   True RTLS       1</a:t>
            </a:r>
          </a:p>
          <a:p>
            <a:pPr latinLnBrk="1"/>
            <a:r>
              <a:rPr lang="en-IN" dirty="0"/>
              <a:t>37           37 2017-08-24       Falcon 9     475.000   SSO  VAFB SLC 4E   True ASDS       1</a:t>
            </a:r>
          </a:p>
          <a:p>
            <a:pPr latinLnBrk="1"/>
            <a:r>
              <a:rPr lang="en-IN" dirty="0"/>
              <a:t>38           38 2017-09-07       Falcon 9    4990.000   LEO   KSC LC 39A   True RTLS       1</a:t>
            </a:r>
          </a:p>
          <a:p>
            <a:pPr latinLnBrk="1"/>
            <a:r>
              <a:rPr lang="en-IN" dirty="0"/>
              <a:t>39           39 2017-10-09       Falcon 9    9600.000    PO  VAFB SLC 4E   True ASDS       1</a:t>
            </a:r>
          </a:p>
          <a:p>
            <a:pPr latinLnBrk="1"/>
            <a:r>
              <a:rPr lang="en-IN" dirty="0"/>
              <a:t>40           40 2017-10-11       Falcon 9    5200.000   GTO   KSC LC 39A   True ASDS       2</a:t>
            </a:r>
          </a:p>
          <a:p>
            <a:pPr latinLnBrk="1"/>
            <a:r>
              <a:rPr lang="en-IN" dirty="0"/>
              <a:t>41           41 2017-10-30       Falcon 9    3700.000   GTO   KSC LC 39A   True ASDS       1</a:t>
            </a:r>
          </a:p>
          <a:p>
            <a:pPr latinLnBrk="1"/>
            <a:r>
              <a:rPr lang="en-IN" dirty="0"/>
              <a:t>42           42 2017-12-15       Falcon 9    2205.000   ISS CCAFS SLC 40   True RTLS       2</a:t>
            </a:r>
          </a:p>
          <a:p>
            <a:pPr latinLnBrk="1"/>
            <a:r>
              <a:rPr lang="en-IN" dirty="0"/>
              <a:t>43           43 2017-12-23       Falcon 9    9600.000    PO  VAFB SLC 4E  True Ocean       2</a:t>
            </a:r>
          </a:p>
          <a:p>
            <a:pPr latinLnBrk="1"/>
            <a:r>
              <a:rPr lang="en-IN" dirty="0"/>
              <a:t>44           44 2018-01-08       Falcon 9    6104.959   LEO CCAFS SLC 40   True RTLS       1</a:t>
            </a:r>
          </a:p>
          <a:p>
            <a:pPr latinLnBrk="1"/>
            <a:r>
              <a:rPr lang="en-IN" dirty="0"/>
              <a:t>45           45 2018-01-31       Falcon 9    4230.000   GTO CCAFS SLC 40  True Ocean       2</a:t>
            </a:r>
          </a:p>
          <a:p>
            <a:pPr latinLnBrk="1"/>
            <a:r>
              <a:rPr lang="en-IN" dirty="0"/>
              <a:t>46           46 2018-03-06       Falcon 9    6092.000   GTO CCAFS SLC 40   None </a:t>
            </a:r>
            <a:r>
              <a:rPr lang="en-IN" dirty="0" err="1"/>
              <a:t>None</a:t>
            </a:r>
            <a:r>
              <a:rPr lang="en-IN" dirty="0"/>
              <a:t>       1</a:t>
            </a:r>
          </a:p>
          <a:p>
            <a:pPr latinLnBrk="1"/>
            <a:r>
              <a:rPr lang="en-IN" dirty="0"/>
              <a:t>47           47 2018-03-30       Falcon 9    9600.000    PO  VAFB SLC 4E   None </a:t>
            </a:r>
            <a:r>
              <a:rPr lang="en-IN" dirty="0" err="1"/>
              <a:t>None</a:t>
            </a:r>
            <a:r>
              <a:rPr lang="en-IN" dirty="0"/>
              <a:t>       2</a:t>
            </a:r>
          </a:p>
          <a:p>
            <a:pPr latinLnBrk="1"/>
            <a:r>
              <a:rPr lang="en-IN" dirty="0"/>
              <a:t>48           48 2018-04-02       Falcon 9    2760.000   ISS CCAFS SLC 40   None </a:t>
            </a:r>
            <a:r>
              <a:rPr lang="en-IN" dirty="0" err="1"/>
              <a:t>None</a:t>
            </a:r>
            <a:r>
              <a:rPr lang="en-IN" dirty="0"/>
              <a:t>       2</a:t>
            </a:r>
          </a:p>
          <a:p>
            <a:pPr latinLnBrk="1"/>
            <a:r>
              <a:rPr lang="en-IN" dirty="0"/>
              <a:t>49           49 2018-04-18       Falcon 9     350.000   HEO CCAFS SLC 40   True ASDS       1</a:t>
            </a:r>
          </a:p>
          <a:p>
            <a:pPr latinLnBrk="1"/>
            <a:r>
              <a:rPr lang="en-IN" dirty="0"/>
              <a:t>50           50 2018-05-11       Falcon 9    3750.000   GTO   KSC LC 39A   True ASDS       1</a:t>
            </a:r>
          </a:p>
          <a:p>
            <a:pPr latinLnBrk="1"/>
            <a:r>
              <a:rPr lang="en-IN" dirty="0"/>
              <a:t>51           51 2018-06-04       Falcon 9    5383.850   GTO CCAFS SLC 40   None </a:t>
            </a:r>
            <a:r>
              <a:rPr lang="en-IN" dirty="0" err="1"/>
              <a:t>None</a:t>
            </a:r>
            <a:r>
              <a:rPr lang="en-IN" dirty="0"/>
              <a:t>       2</a:t>
            </a:r>
          </a:p>
          <a:p>
            <a:pPr latinLnBrk="1"/>
            <a:r>
              <a:rPr lang="en-IN" dirty="0"/>
              <a:t>52           52 2018-06-29       Falcon 9    2410.000   ISS CCAFS SLC 40   None </a:t>
            </a:r>
            <a:r>
              <a:rPr lang="en-IN" dirty="0" err="1"/>
              <a:t>None</a:t>
            </a:r>
            <a:r>
              <a:rPr lang="en-IN" dirty="0"/>
              <a:t>       2</a:t>
            </a:r>
          </a:p>
          <a:p>
            <a:pPr latinLnBrk="1"/>
            <a:r>
              <a:rPr lang="en-IN" dirty="0"/>
              <a:t>53           53 2018-07-22       Falcon 9    7076.000   GTO CCAFS SLC 40   True ASDS       1</a:t>
            </a:r>
          </a:p>
          <a:p>
            <a:pPr latinLnBrk="1"/>
            <a:r>
              <a:rPr lang="en-IN" dirty="0"/>
              <a:t>54           54 2018-07-25       Falcon 9    9600.000    PO  VAFB SLC 4E   True ASDS       1</a:t>
            </a:r>
          </a:p>
          <a:p>
            <a:pPr latinLnBrk="1"/>
            <a:r>
              <a:rPr lang="en-IN" dirty="0"/>
              <a:t>55           55 2018-08-07       Falcon 9    5800.000   GTO CCAFS SLC 40   True ASDS       2</a:t>
            </a:r>
          </a:p>
          <a:p>
            <a:pPr latinLnBrk="1"/>
            <a:r>
              <a:rPr lang="en-IN" dirty="0"/>
              <a:t>   </a:t>
            </a:r>
            <a:r>
              <a:rPr lang="en-IN" dirty="0" err="1"/>
              <a:t>GridFins</a:t>
            </a:r>
            <a:r>
              <a:rPr lang="en-IN" dirty="0"/>
              <a:t> Reused  Legs               </a:t>
            </a:r>
            <a:r>
              <a:rPr lang="en-IN" dirty="0" err="1"/>
              <a:t>LandingPad</a:t>
            </a:r>
            <a:r>
              <a:rPr lang="en-IN" dirty="0"/>
              <a:t> Block </a:t>
            </a:r>
            <a:r>
              <a:rPr lang="en-IN" dirty="0" err="1"/>
              <a:t>ReusedCount</a:t>
            </a:r>
            <a:r>
              <a:rPr lang="en-IN" dirty="0"/>
              <a:t> Serial  Longitude Latitude</a:t>
            </a:r>
          </a:p>
          <a:p>
            <a:pPr latinLnBrk="1"/>
            <a:r>
              <a:rPr lang="en-IN" dirty="0"/>
              <a:t>1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B0003  -80.57737 28.56186</a:t>
            </a:r>
          </a:p>
          <a:p>
            <a:pPr latinLnBrk="1"/>
            <a:r>
              <a:rPr lang="en-IN" dirty="0"/>
              <a:t>2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B0005  -80.57737 28.56186</a:t>
            </a:r>
          </a:p>
          <a:p>
            <a:pPr latinLnBrk="1"/>
            <a:r>
              <a:rPr lang="en-IN" dirty="0"/>
              <a:t>3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B0007  -80.57737 28.56186</a:t>
            </a:r>
          </a:p>
          <a:p>
            <a:pPr latinLnBrk="1"/>
            <a:r>
              <a:rPr lang="en-IN" dirty="0"/>
              <a:t>4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B1003 -120.61083 34.63209</a:t>
            </a:r>
          </a:p>
          <a:p>
            <a:pPr latinLnBrk="1"/>
            <a:r>
              <a:rPr lang="en-IN" dirty="0"/>
              <a:t>5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B1004  -80.57737 28.56186</a:t>
            </a:r>
          </a:p>
          <a:p>
            <a:pPr latinLnBrk="1"/>
            <a:r>
              <a:rPr lang="en-IN" dirty="0"/>
              <a:t>6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B1005  -80.57737 28.56186</a:t>
            </a:r>
          </a:p>
          <a:p>
            <a:pPr latinLnBrk="1"/>
            <a:r>
              <a:rPr lang="en-IN" dirty="0"/>
              <a:t>7     False  </a:t>
            </a:r>
            <a:r>
              <a:rPr lang="en-IN" dirty="0" err="1"/>
              <a:t>False</a:t>
            </a:r>
            <a:r>
              <a:rPr lang="en-IN" dirty="0"/>
              <a:t>  True                              1           0  B1006  -80.57737 28.56186</a:t>
            </a:r>
          </a:p>
          <a:p>
            <a:pPr latinLnBrk="1"/>
            <a:r>
              <a:rPr lang="en-IN" dirty="0"/>
              <a:t>8     False  </a:t>
            </a:r>
            <a:r>
              <a:rPr lang="en-IN" dirty="0" err="1"/>
              <a:t>False</a:t>
            </a:r>
            <a:r>
              <a:rPr lang="en-IN" dirty="0"/>
              <a:t>  True                              1           0  B1007  -80.57737 28.56186</a:t>
            </a:r>
          </a:p>
          <a:p>
            <a:pPr latinLnBrk="1"/>
            <a:r>
              <a:rPr lang="en-IN" dirty="0"/>
              <a:t>9 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B1008  -80.57737 28.56186</a:t>
            </a:r>
          </a:p>
          <a:p>
            <a:pPr latinLnBrk="1"/>
            <a:r>
              <a:rPr lang="en-IN" dirty="0"/>
              <a:t>10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B1011  -80.57737 28.56186</a:t>
            </a:r>
          </a:p>
          <a:p>
            <a:pPr latinLnBrk="1"/>
            <a:r>
              <a:rPr lang="en-IN" dirty="0"/>
              <a:t>11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B1010  -80.57737 28.56186</a:t>
            </a:r>
          </a:p>
          <a:p>
            <a:pPr latinLnBrk="1"/>
            <a:r>
              <a:rPr lang="en-IN" dirty="0"/>
              <a:t>12     True  False  True 5e9e3032383ecb761634e7cb     1           0  B1012  -80.57737 28.56186</a:t>
            </a:r>
          </a:p>
          <a:p>
            <a:pPr latinLnBrk="1"/>
            <a:r>
              <a:rPr lang="en-IN" dirty="0"/>
              <a:t>13     True  False  True                              1           0  B1013  -80.57737 28.56186</a:t>
            </a:r>
          </a:p>
          <a:p>
            <a:pPr latinLnBrk="1"/>
            <a:r>
              <a:rPr lang="en-IN" dirty="0"/>
              <a:t>14     True  False  True 5e9e3032383ecb761634e7cb     1           0  B1015  -80.57737 28.56186</a:t>
            </a:r>
          </a:p>
          <a:p>
            <a:pPr latinLnBrk="1"/>
            <a:r>
              <a:rPr lang="en-IN" dirty="0"/>
              <a:t>15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1           0  B1016  -80.57737 28.56186</a:t>
            </a:r>
          </a:p>
          <a:p>
            <a:pPr latinLnBrk="1"/>
            <a:r>
              <a:rPr lang="en-IN" dirty="0"/>
              <a:t>16     True  False  True 5e9e3032383ecb6bb234e7ca     1           0  B1018  -80.57737 28.56186</a:t>
            </a:r>
          </a:p>
          <a:p>
            <a:pPr latinLnBrk="1"/>
            <a:r>
              <a:rPr lang="en-IN" dirty="0"/>
              <a:t>17     True  False  True 5e9e3032383ecb267a34e7c7     1           0  B1019  -80.57737 28.56186</a:t>
            </a:r>
          </a:p>
          <a:p>
            <a:pPr latinLnBrk="1"/>
            <a:r>
              <a:rPr lang="en-IN" dirty="0"/>
              <a:t>18     True  False  True 5e9e3033383ecbb9e534e7cc     1           0  B1017 -120.61083 34.63209</a:t>
            </a:r>
          </a:p>
          <a:p>
            <a:pPr latinLnBrk="1"/>
            <a:r>
              <a:rPr lang="en-IN" dirty="0"/>
              <a:t>19     True  False  True 5e9e3032383ecb6bb234e7ca     1           0  B1020  -80.57737 28.56186</a:t>
            </a:r>
          </a:p>
          <a:p>
            <a:pPr latinLnBrk="1"/>
            <a:r>
              <a:rPr lang="en-IN" dirty="0"/>
              <a:t>20     True  False  True 5e9e3032383ecb6bb234e7ca     2           1  B1021  -80.57737 28.56186</a:t>
            </a:r>
          </a:p>
          <a:p>
            <a:pPr latinLnBrk="1"/>
            <a:r>
              <a:rPr lang="en-IN" dirty="0"/>
              <a:t>21     True  False  True 5e9e3032383ecb6bb234e7ca     2           0  B1022  -80.57737 28.56186</a:t>
            </a:r>
          </a:p>
          <a:p>
            <a:pPr latinLnBrk="1"/>
            <a:r>
              <a:rPr lang="en-IN" dirty="0"/>
              <a:t>22     True  False  True 5e9e3032383ecb6bb234e7ca     2           1  B1023  -80.57737 28.56186</a:t>
            </a:r>
          </a:p>
          <a:p>
            <a:pPr latinLnBrk="1"/>
            <a:r>
              <a:rPr lang="en-IN" dirty="0"/>
              <a:t>23     True  False  True 5e9e3032383ecb267a34e7c7     2           1  B1025  -80.57737 28.56186</a:t>
            </a:r>
          </a:p>
          <a:p>
            <a:pPr latinLnBrk="1"/>
            <a:r>
              <a:rPr lang="en-IN" dirty="0"/>
              <a:t>24     True  False  True 5e9e3032383ecb6bb234e7ca     2           0  B1026  -80.57737 28.56186</a:t>
            </a:r>
          </a:p>
          <a:p>
            <a:pPr latinLnBrk="1"/>
            <a:r>
              <a:rPr lang="en-IN" dirty="0"/>
              <a:t>25     True  False  True 5e9e3032383ecb6bb234e7ca     3           0  B1028  -80.57737 28.56186</a:t>
            </a:r>
          </a:p>
          <a:p>
            <a:pPr latinLnBrk="1"/>
            <a:r>
              <a:rPr lang="en-IN" dirty="0"/>
              <a:t>26     True  False  True 5e9e3033383ecbb9e534e7cc     3           1  B1029 -120.61083 34.63209</a:t>
            </a:r>
          </a:p>
          <a:p>
            <a:pPr latinLnBrk="1"/>
            <a:r>
              <a:rPr lang="en-IN" dirty="0"/>
              <a:t>27     True  False  True 5e9e3032383ecb267a34e7c7     3           1  B1031  -80.60396 28.60806</a:t>
            </a:r>
          </a:p>
          <a:p>
            <a:pPr latinLnBrk="1"/>
            <a:r>
              <a:rPr lang="en-IN" dirty="0"/>
              <a:t>28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3           0  B1030  -80.60396 28.60806</a:t>
            </a:r>
          </a:p>
          <a:p>
            <a:pPr latinLnBrk="1"/>
            <a:r>
              <a:rPr lang="en-IN" dirty="0"/>
              <a:t>29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5e9e3032383ecb6bb234e7ca     2           1  B1021  -80.60396 28.60806</a:t>
            </a:r>
          </a:p>
          <a:p>
            <a:pPr latinLnBrk="1"/>
            <a:r>
              <a:rPr lang="en-IN" dirty="0"/>
              <a:t>30     True  False  True 5e9e3032383ecb267a34e7c7     3           1  B1032  -80.60396 28.60806</a:t>
            </a:r>
          </a:p>
          <a:p>
            <a:pPr latinLnBrk="1"/>
            <a:r>
              <a:rPr lang="en-IN" dirty="0"/>
              <a:t>31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3           0  B1034  -80.60396 28.60806</a:t>
            </a:r>
          </a:p>
          <a:p>
            <a:pPr latinLnBrk="1"/>
            <a:r>
              <a:rPr lang="en-IN" dirty="0"/>
              <a:t>32     True  False  True 5e9e3032383ecb267a34e7c7     3           1  B1035  -80.60396 28.60806</a:t>
            </a:r>
          </a:p>
          <a:p>
            <a:pPr latinLnBrk="1"/>
            <a:r>
              <a:rPr lang="en-IN" dirty="0"/>
              <a:t>33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5e9e3032383ecb6bb234e7ca     3           1  B1029  -80.60396 28.60806</a:t>
            </a:r>
          </a:p>
          <a:p>
            <a:pPr latinLnBrk="1"/>
            <a:r>
              <a:rPr lang="en-IN" dirty="0"/>
              <a:t>34     True  False  True 5e9e3033383ecbb9e534e7cc     3           1  B1036 -120.61083 34.63209</a:t>
            </a:r>
          </a:p>
          <a:p>
            <a:pPr latinLnBrk="1"/>
            <a:r>
              <a:rPr lang="en-IN" dirty="0"/>
              <a:t>35    False  </a:t>
            </a:r>
            <a:r>
              <a:rPr lang="en-IN" dirty="0" err="1"/>
              <a:t>False</a:t>
            </a:r>
            <a:r>
              <a:rPr lang="en-IN" dirty="0"/>
              <a:t> </a:t>
            </a:r>
            <a:r>
              <a:rPr lang="en-IN" dirty="0" err="1"/>
              <a:t>False</a:t>
            </a:r>
            <a:r>
              <a:rPr lang="en-IN" dirty="0"/>
              <a:t>                              3           0  B1037  -80.60396 28.60806</a:t>
            </a:r>
          </a:p>
          <a:p>
            <a:pPr latinLnBrk="1"/>
            <a:r>
              <a:rPr lang="en-IN" dirty="0"/>
              <a:t>36     True  False  True 5e9e3032383ecb267a34e7c7     4           1  B1039  -80.60396 28.60806</a:t>
            </a:r>
          </a:p>
          <a:p>
            <a:pPr latinLnBrk="1"/>
            <a:r>
              <a:rPr lang="en-IN" dirty="0"/>
              <a:t>37     True  False  True 5e9e3033383ecbb9e534e7cc     3           1  B1038 -120.61083 34.63209</a:t>
            </a:r>
          </a:p>
          <a:p>
            <a:pPr latinLnBrk="1"/>
            <a:r>
              <a:rPr lang="en-IN" dirty="0"/>
              <a:t>38     True  False  True 5e9e3032383ecb267a34e7c7     4           1  B1040  -80.60396 28.60806</a:t>
            </a:r>
          </a:p>
          <a:p>
            <a:pPr latinLnBrk="1"/>
            <a:r>
              <a:rPr lang="en-IN" dirty="0"/>
              <a:t>39     True  False  True 5e9e3033383ecbb9e534e7cc     4           1  B1041 -120.61083 34.63209</a:t>
            </a:r>
          </a:p>
          <a:p>
            <a:pPr latinLnBrk="1"/>
            <a:r>
              <a:rPr lang="en-IN" dirty="0"/>
              <a:t>40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5e9e3032383ecb6bb234e7ca     3           1  B1031  -80.60396 28.60806</a:t>
            </a:r>
          </a:p>
          <a:p>
            <a:pPr latinLnBrk="1"/>
            <a:r>
              <a:rPr lang="en-IN" dirty="0"/>
              <a:t>41     True  False  True 5e9e3032383ecb6bb234e7ca     4           0  B1042  -80.60396 28.60806</a:t>
            </a:r>
          </a:p>
          <a:p>
            <a:pPr latinLnBrk="1"/>
            <a:r>
              <a:rPr lang="en-IN" dirty="0"/>
              <a:t>42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5e9e3032383ecb267a34e7c7     3           1  B1035  -80.57737 28.56186</a:t>
            </a:r>
          </a:p>
          <a:p>
            <a:pPr latinLnBrk="1"/>
            <a:r>
              <a:rPr lang="en-IN" dirty="0"/>
              <a:t>43     True   </a:t>
            </a:r>
            <a:r>
              <a:rPr lang="en-IN" dirty="0" err="1"/>
              <a:t>True</a:t>
            </a:r>
            <a:r>
              <a:rPr lang="en-IN" dirty="0"/>
              <a:t> False                              3           1  B1036 -120.61083 34.63209</a:t>
            </a:r>
          </a:p>
          <a:p>
            <a:pPr latinLnBrk="1"/>
            <a:r>
              <a:rPr lang="en-IN" dirty="0"/>
              <a:t>44     True  False  True 5e9e3032383ecb267a34e7c7     4           1  B1043  -80.57737 28.56186</a:t>
            </a:r>
          </a:p>
          <a:p>
            <a:pPr latinLnBrk="1"/>
            <a:r>
              <a:rPr lang="en-IN" dirty="0"/>
              <a:t>45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                             3           1  B1032  -80.57737 28.56186</a:t>
            </a:r>
          </a:p>
          <a:p>
            <a:pPr latinLnBrk="1"/>
            <a:r>
              <a:rPr lang="en-IN" dirty="0"/>
              <a:t>46     True  False  True                              4           0  B1044  -80.57737 28.56186</a:t>
            </a:r>
          </a:p>
          <a:p>
            <a:pPr latinLnBrk="1"/>
            <a:r>
              <a:rPr lang="en-IN" dirty="0"/>
              <a:t>47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                             4           1  B1041 -120.61083 34.63209</a:t>
            </a:r>
          </a:p>
          <a:p>
            <a:pPr latinLnBrk="1"/>
            <a:r>
              <a:rPr lang="en-IN" dirty="0"/>
              <a:t>48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                             4           1  B1039  -80.57737 28.56186</a:t>
            </a:r>
          </a:p>
          <a:p>
            <a:pPr latinLnBrk="1"/>
            <a:r>
              <a:rPr lang="en-IN" dirty="0"/>
              <a:t>49     True  False  True 5e9e3032383ecb6bb234e7ca     4           1  B1045  -80.57737 28.56186</a:t>
            </a:r>
          </a:p>
          <a:p>
            <a:pPr latinLnBrk="1"/>
            <a:r>
              <a:rPr lang="en-IN" dirty="0"/>
              <a:t>50     True  False  True 5e9e3032383ecb6bb234e7ca     5           3  B1046  -80.60396 28.60806</a:t>
            </a:r>
          </a:p>
          <a:p>
            <a:pPr latinLnBrk="1"/>
            <a:r>
              <a:rPr lang="en-IN" dirty="0"/>
              <a:t>51    False   True False                              4           1  B1040  -80.57737 28.56186</a:t>
            </a:r>
          </a:p>
          <a:p>
            <a:pPr latinLnBrk="1"/>
            <a:r>
              <a:rPr lang="en-IN" dirty="0"/>
              <a:t>52    False   True False                              4           1  B1045  -80.57737 28.56186</a:t>
            </a:r>
          </a:p>
          <a:p>
            <a:pPr latinLnBrk="1"/>
            <a:r>
              <a:rPr lang="en-IN" dirty="0"/>
              <a:t>53     True  False  True 5e9e3032383ecb6bb234e7ca     5           2  B1047  -80.57737 28.56186</a:t>
            </a:r>
          </a:p>
          <a:p>
            <a:pPr latinLnBrk="1"/>
            <a:r>
              <a:rPr lang="en-IN" dirty="0"/>
              <a:t>54     True  False  True 5e9e3033383ecbb9e534e7cc     5           4  B1048 -120.61083 34.63209</a:t>
            </a:r>
          </a:p>
          <a:p>
            <a:pPr latinLnBrk="1"/>
            <a:r>
              <a:rPr lang="en-IN" dirty="0"/>
              <a:t>55     True   </a:t>
            </a:r>
            <a:r>
              <a:rPr lang="en-IN" dirty="0" err="1"/>
              <a:t>True</a:t>
            </a:r>
            <a:r>
              <a:rPr lang="en-IN" dirty="0"/>
              <a:t>  </a:t>
            </a:r>
            <a:r>
              <a:rPr lang="en-IN" dirty="0" err="1"/>
              <a:t>True</a:t>
            </a:r>
            <a:r>
              <a:rPr lang="en-IN" dirty="0"/>
              <a:t> 5e9e3032383ecb6bb234e7ca     5           3  B1046  -80.57737 28.56186</a:t>
            </a:r>
          </a:p>
          <a:p>
            <a:pPr latinLnBrk="1"/>
            <a:r>
              <a:rPr lang="en-IN" dirty="0"/>
              <a:t>   Class</a:t>
            </a:r>
          </a:p>
          <a:p>
            <a:pPr latinLnBrk="1"/>
            <a:r>
              <a:rPr lang="en-IN" dirty="0"/>
              <a:t>1      0</a:t>
            </a:r>
          </a:p>
          <a:p>
            <a:pPr latinLnBrk="1"/>
            <a:r>
              <a:rPr lang="en-IN" dirty="0"/>
              <a:t>2      0</a:t>
            </a:r>
          </a:p>
          <a:p>
            <a:pPr latinLnBrk="1"/>
            <a:r>
              <a:rPr lang="en-IN" dirty="0"/>
              <a:t>3      0</a:t>
            </a:r>
          </a:p>
          <a:p>
            <a:pPr latinLnBrk="1"/>
            <a:r>
              <a:rPr lang="en-IN" dirty="0"/>
              <a:t>4      0</a:t>
            </a:r>
          </a:p>
          <a:p>
            <a:pPr latinLnBrk="1"/>
            <a:r>
              <a:rPr lang="en-IN" dirty="0"/>
              <a:t>5      0</a:t>
            </a:r>
          </a:p>
          <a:p>
            <a:pPr latinLnBrk="1"/>
            <a:r>
              <a:rPr lang="en-IN" dirty="0"/>
              <a:t>6      0</a:t>
            </a:r>
          </a:p>
          <a:p>
            <a:pPr latinLnBrk="1"/>
            <a:r>
              <a:rPr lang="en-IN" dirty="0"/>
              <a:t>7      1</a:t>
            </a:r>
          </a:p>
          <a:p>
            <a:pPr latinLnBrk="1"/>
            <a:r>
              <a:rPr lang="en-IN" dirty="0"/>
              <a:t>8      1</a:t>
            </a:r>
          </a:p>
          <a:p>
            <a:pPr latinLnBrk="1"/>
            <a:r>
              <a:rPr lang="en-IN" dirty="0"/>
              <a:t>9      0</a:t>
            </a:r>
          </a:p>
          <a:p>
            <a:pPr latinLnBrk="1"/>
            <a:r>
              <a:rPr lang="en-IN" dirty="0"/>
              <a:t>10     0</a:t>
            </a:r>
          </a:p>
          <a:p>
            <a:pPr latinLnBrk="1"/>
            <a:r>
              <a:rPr lang="en-IN" dirty="0"/>
              <a:t>11     0</a:t>
            </a:r>
          </a:p>
          <a:p>
            <a:pPr latinLnBrk="1"/>
            <a:r>
              <a:rPr lang="en-IN" dirty="0"/>
              <a:t>12     0</a:t>
            </a:r>
          </a:p>
          <a:p>
            <a:pPr latinLnBrk="1"/>
            <a:r>
              <a:rPr lang="en-IN" dirty="0"/>
              <a:t>13     1</a:t>
            </a:r>
          </a:p>
          <a:p>
            <a:pPr latinLnBrk="1"/>
            <a:r>
              <a:rPr lang="en-IN" dirty="0"/>
              <a:t>14     0</a:t>
            </a:r>
          </a:p>
          <a:p>
            <a:pPr latinLnBrk="1"/>
            <a:r>
              <a:rPr lang="en-IN" dirty="0"/>
              <a:t>15     0</a:t>
            </a:r>
          </a:p>
          <a:p>
            <a:pPr latinLnBrk="1"/>
            <a:r>
              <a:rPr lang="en-IN" dirty="0"/>
              <a:t>16     0</a:t>
            </a:r>
          </a:p>
          <a:p>
            <a:pPr latinLnBrk="1"/>
            <a:r>
              <a:rPr lang="en-IN" dirty="0"/>
              <a:t>17     1</a:t>
            </a:r>
          </a:p>
          <a:p>
            <a:pPr latinLnBrk="1"/>
            <a:r>
              <a:rPr lang="en-IN" dirty="0"/>
              <a:t>18     0</a:t>
            </a:r>
          </a:p>
          <a:p>
            <a:pPr latinLnBrk="1"/>
            <a:r>
              <a:rPr lang="en-IN" dirty="0"/>
              <a:t>19     0</a:t>
            </a:r>
          </a:p>
          <a:p>
            <a:pPr latinLnBrk="1"/>
            <a:r>
              <a:rPr lang="en-IN" dirty="0"/>
              <a:t>20     1</a:t>
            </a:r>
          </a:p>
          <a:p>
            <a:pPr latinLnBrk="1"/>
            <a:r>
              <a:rPr lang="en-IN" dirty="0"/>
              <a:t>21     1</a:t>
            </a:r>
          </a:p>
          <a:p>
            <a:pPr latinLnBrk="1"/>
            <a:r>
              <a:rPr lang="en-IN" dirty="0"/>
              <a:t>22     1</a:t>
            </a:r>
          </a:p>
          <a:p>
            <a:pPr latinLnBrk="1"/>
            <a:r>
              <a:rPr lang="en-IN" dirty="0"/>
              <a:t>23     1</a:t>
            </a:r>
          </a:p>
          <a:p>
            <a:pPr latinLnBrk="1"/>
            <a:r>
              <a:rPr lang="en-IN" dirty="0"/>
              <a:t>24     1</a:t>
            </a:r>
          </a:p>
          <a:p>
            <a:pPr latinLnBrk="1"/>
            <a:r>
              <a:rPr lang="en-IN" dirty="0"/>
              <a:t>25     0</a:t>
            </a:r>
          </a:p>
          <a:p>
            <a:pPr latinLnBrk="1"/>
            <a:r>
              <a:rPr lang="en-IN" dirty="0"/>
              <a:t>26     1</a:t>
            </a:r>
          </a:p>
          <a:p>
            <a:pPr latinLnBrk="1"/>
            <a:r>
              <a:rPr lang="en-IN" dirty="0"/>
              <a:t>27     1</a:t>
            </a:r>
          </a:p>
          <a:p>
            <a:pPr latinLnBrk="1"/>
            <a:r>
              <a:rPr lang="en-IN" dirty="0"/>
              <a:t>28     0</a:t>
            </a:r>
          </a:p>
          <a:p>
            <a:pPr latinLnBrk="1"/>
            <a:r>
              <a:rPr lang="en-IN" dirty="0"/>
              <a:t>29     1</a:t>
            </a:r>
          </a:p>
          <a:p>
            <a:pPr latinLnBrk="1"/>
            <a:r>
              <a:rPr lang="en-IN" dirty="0"/>
              <a:t>30     1</a:t>
            </a:r>
          </a:p>
          <a:p>
            <a:pPr latinLnBrk="1"/>
            <a:r>
              <a:rPr lang="en-IN" dirty="0"/>
              <a:t>31     0</a:t>
            </a:r>
          </a:p>
          <a:p>
            <a:pPr latinLnBrk="1"/>
            <a:r>
              <a:rPr lang="en-IN" dirty="0"/>
              <a:t>32     1</a:t>
            </a:r>
          </a:p>
          <a:p>
            <a:pPr latinLnBrk="1"/>
            <a:r>
              <a:rPr lang="en-IN" dirty="0"/>
              <a:t>33     1</a:t>
            </a:r>
          </a:p>
          <a:p>
            <a:pPr latinLnBrk="1"/>
            <a:r>
              <a:rPr lang="en-IN" dirty="0"/>
              <a:t>34     1</a:t>
            </a:r>
          </a:p>
          <a:p>
            <a:pPr latinLnBrk="1"/>
            <a:r>
              <a:rPr lang="en-IN" dirty="0"/>
              <a:t>35     0</a:t>
            </a:r>
          </a:p>
          <a:p>
            <a:pPr latinLnBrk="1"/>
            <a:r>
              <a:rPr lang="en-IN" dirty="0"/>
              <a:t>36     1</a:t>
            </a:r>
          </a:p>
          <a:p>
            <a:pPr latinLnBrk="1"/>
            <a:r>
              <a:rPr lang="en-IN" dirty="0"/>
              <a:t>37     1</a:t>
            </a:r>
          </a:p>
          <a:p>
            <a:pPr latinLnBrk="1"/>
            <a:r>
              <a:rPr lang="en-IN" dirty="0"/>
              <a:t>38     1</a:t>
            </a:r>
          </a:p>
          <a:p>
            <a:pPr latinLnBrk="1"/>
            <a:r>
              <a:rPr lang="en-IN" dirty="0"/>
              <a:t>39     1</a:t>
            </a:r>
          </a:p>
          <a:p>
            <a:pPr latinLnBrk="1"/>
            <a:r>
              <a:rPr lang="en-IN" dirty="0"/>
              <a:t>40     1</a:t>
            </a:r>
          </a:p>
          <a:p>
            <a:pPr latinLnBrk="1"/>
            <a:r>
              <a:rPr lang="en-IN" dirty="0"/>
              <a:t>41     1</a:t>
            </a:r>
          </a:p>
          <a:p>
            <a:pPr latinLnBrk="1"/>
            <a:r>
              <a:rPr lang="en-IN" dirty="0"/>
              <a:t>42     1</a:t>
            </a:r>
          </a:p>
          <a:p>
            <a:pPr latinLnBrk="1"/>
            <a:r>
              <a:rPr lang="en-IN" dirty="0"/>
              <a:t>43     1</a:t>
            </a:r>
          </a:p>
          <a:p>
            <a:pPr latinLnBrk="1"/>
            <a:r>
              <a:rPr lang="en-IN" dirty="0"/>
              <a:t>44     1</a:t>
            </a:r>
          </a:p>
          <a:p>
            <a:pPr latinLnBrk="1"/>
            <a:r>
              <a:rPr lang="en-IN" dirty="0"/>
              <a:t>45     1</a:t>
            </a:r>
          </a:p>
          <a:p>
            <a:pPr latinLnBrk="1"/>
            <a:r>
              <a:rPr lang="en-IN" dirty="0"/>
              <a:t>46     0</a:t>
            </a:r>
          </a:p>
          <a:p>
            <a:pPr latinLnBrk="1"/>
            <a:r>
              <a:rPr lang="en-IN" dirty="0"/>
              <a:t>47     0</a:t>
            </a:r>
          </a:p>
          <a:p>
            <a:pPr latinLnBrk="1"/>
            <a:r>
              <a:rPr lang="en-IN" dirty="0"/>
              <a:t>48     0</a:t>
            </a:r>
          </a:p>
          <a:p>
            <a:pPr latinLnBrk="1"/>
            <a:r>
              <a:rPr lang="en-IN" dirty="0"/>
              <a:t>49     1</a:t>
            </a:r>
          </a:p>
          <a:p>
            <a:pPr latinLnBrk="1"/>
            <a:r>
              <a:rPr lang="en-IN" dirty="0"/>
              <a:t>50     1</a:t>
            </a:r>
          </a:p>
          <a:p>
            <a:pPr latinLnBrk="1"/>
            <a:r>
              <a:rPr lang="en-IN" dirty="0"/>
              <a:t>51     0</a:t>
            </a:r>
          </a:p>
          <a:p>
            <a:pPr latinLnBrk="1"/>
            <a:r>
              <a:rPr lang="en-IN" dirty="0"/>
              <a:t>52     0</a:t>
            </a:r>
          </a:p>
          <a:p>
            <a:pPr latinLnBrk="1"/>
            <a:r>
              <a:rPr lang="en-IN" dirty="0"/>
              <a:t>53     1</a:t>
            </a:r>
          </a:p>
          <a:p>
            <a:pPr latinLnBrk="1"/>
            <a:r>
              <a:rPr lang="en-IN" dirty="0"/>
              <a:t>54     1</a:t>
            </a:r>
          </a:p>
          <a:p>
            <a:pPr latinLnBrk="1"/>
            <a:r>
              <a:rPr lang="en-IN" dirty="0"/>
              <a:t>55     1</a:t>
            </a:r>
          </a:p>
          <a:p>
            <a:pPr latinLnBrk="1"/>
            <a:r>
              <a:rPr lang="en-IN" dirty="0"/>
              <a:t> [ reached 'max' / </a:t>
            </a:r>
            <a:r>
              <a:rPr lang="en-IN" dirty="0" err="1"/>
              <a:t>getOption</a:t>
            </a:r>
            <a:r>
              <a:rPr lang="en-IN" dirty="0"/>
              <a:t>("</a:t>
            </a:r>
            <a:r>
              <a:rPr lang="en-IN" dirty="0" err="1"/>
              <a:t>max.print</a:t>
            </a:r>
            <a:r>
              <a:rPr lang="en-IN" dirty="0"/>
              <a:t>") -- omitted 35 rows ]</a:t>
            </a:r>
          </a:p>
          <a:p>
            <a:pPr latinLnBrk="1"/>
            <a:r>
              <a:rPr lang="en-IN" dirty="0"/>
              <a:t>&gt; mod1=</a:t>
            </a:r>
            <a:r>
              <a:rPr lang="en-IN" dirty="0" err="1"/>
              <a:t>lm</a:t>
            </a:r>
            <a:r>
              <a:rPr lang="en-IN" dirty="0"/>
              <a:t>(</a:t>
            </a:r>
            <a:r>
              <a:rPr lang="en-IN" dirty="0" err="1"/>
              <a:t>data$PayloadMass~data$FlightNumber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&gt; summary(mod1)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Call:</a:t>
            </a:r>
          </a:p>
          <a:p>
            <a:pPr latinLnBrk="1"/>
            <a:r>
              <a:rPr lang="en-IN" dirty="0" err="1"/>
              <a:t>lm</a:t>
            </a:r>
            <a:r>
              <a:rPr lang="en-IN" dirty="0"/>
              <a:t>(formula = </a:t>
            </a:r>
            <a:r>
              <a:rPr lang="en-IN" dirty="0" err="1"/>
              <a:t>data$PayloadMass</a:t>
            </a:r>
            <a:r>
              <a:rPr lang="en-IN" dirty="0"/>
              <a:t> ~ </a:t>
            </a:r>
            <a:r>
              <a:rPr lang="en-IN" dirty="0" err="1"/>
              <a:t>data$FlightNumber</a:t>
            </a:r>
            <a:r>
              <a:rPr lang="en-IN" dirty="0"/>
              <a:t>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Residuals:</a:t>
            </a:r>
          </a:p>
          <a:p>
            <a:pPr latinLnBrk="1"/>
            <a:r>
              <a:rPr lang="en-IN" dirty="0"/>
              <a:t>    Min      1Q  Median      3Q     Max </a:t>
            </a:r>
          </a:p>
          <a:p>
            <a:pPr latinLnBrk="1"/>
            <a:r>
              <a:rPr lang="en-IN" dirty="0"/>
              <a:t>-8737.7 -2145.8  -214.2  2287.8  6976.8 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Coefficients:</a:t>
            </a:r>
          </a:p>
          <a:p>
            <a:pPr latinLnBrk="1"/>
            <a:r>
              <a:rPr lang="en-IN" dirty="0"/>
              <a:t>                  Estimate Std. Error t value </a:t>
            </a:r>
            <a:r>
              <a:rPr lang="en-IN" dirty="0" err="1"/>
              <a:t>Pr</a:t>
            </a:r>
            <a:r>
              <a:rPr lang="en-IN" dirty="0"/>
              <a:t>(&gt;|t|)    </a:t>
            </a:r>
          </a:p>
          <a:p>
            <a:pPr latinLnBrk="1"/>
            <a:r>
              <a:rPr lang="en-IN" dirty="0"/>
              <a:t>(Intercept)        1229.28     805.71   1.526    0.131    </a:t>
            </a:r>
          </a:p>
          <a:p>
            <a:pPr latinLnBrk="1"/>
            <a:r>
              <a:rPr lang="en-IN" dirty="0" err="1"/>
              <a:t>data$FlightNumber</a:t>
            </a:r>
            <a:r>
              <a:rPr lang="en-IN" dirty="0"/>
              <a:t>   107.16      15.38   6.968  5.6e-10 ***</a:t>
            </a:r>
          </a:p>
          <a:p>
            <a:pPr latinLnBrk="1"/>
            <a:r>
              <a:rPr lang="en-IN" dirty="0"/>
              <a:t>---</a:t>
            </a:r>
          </a:p>
          <a:p>
            <a:pPr latinLnBrk="1"/>
            <a:r>
              <a:rPr lang="en-IN" dirty="0" err="1"/>
              <a:t>Signif</a:t>
            </a:r>
            <a:r>
              <a:rPr lang="en-IN" dirty="0"/>
              <a:t>. codes:  0 ‘***’ 0.001 ‘**’ 0.01 ‘*’ 0.05 ‘.’ 0.1 ‘ ’ 1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 standard error: 3790 on 88 degrees of freedom</a:t>
            </a:r>
          </a:p>
          <a:p>
            <a:pPr latinLnBrk="1"/>
            <a:r>
              <a:rPr lang="en-IN" dirty="0"/>
              <a:t>Multiple R-squared:  0.3556,	Adjusted R-squared:  0.3483 </a:t>
            </a:r>
          </a:p>
          <a:p>
            <a:pPr latinLnBrk="1"/>
            <a:r>
              <a:rPr lang="en-IN" dirty="0"/>
              <a:t>F-statistic: 48.56 on 1 and 88 DF,  p-value: 5.598e-10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&gt; mod2=</a:t>
            </a:r>
            <a:r>
              <a:rPr lang="en-IN" dirty="0" err="1"/>
              <a:t>lm</a:t>
            </a:r>
            <a:r>
              <a:rPr lang="en-IN" dirty="0"/>
              <a:t>(</a:t>
            </a:r>
            <a:r>
              <a:rPr lang="en-IN" dirty="0" err="1"/>
              <a:t>data$PayloadMass~data$Flights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&gt; summary(mod2)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Call:</a:t>
            </a:r>
          </a:p>
          <a:p>
            <a:pPr latinLnBrk="1"/>
            <a:r>
              <a:rPr lang="en-IN" dirty="0" err="1"/>
              <a:t>lm</a:t>
            </a:r>
            <a:r>
              <a:rPr lang="en-IN" dirty="0"/>
              <a:t>(formula = </a:t>
            </a:r>
            <a:r>
              <a:rPr lang="en-IN" dirty="0" err="1"/>
              <a:t>data$PayloadMass</a:t>
            </a:r>
            <a:r>
              <a:rPr lang="en-IN" dirty="0"/>
              <a:t> ~ </a:t>
            </a:r>
            <a:r>
              <a:rPr lang="en-IN" dirty="0" err="1"/>
              <a:t>data$Flights</a:t>
            </a:r>
            <a:r>
              <a:rPr lang="en-IN" dirty="0"/>
              <a:t>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Residuals:</a:t>
            </a:r>
          </a:p>
          <a:p>
            <a:pPr latinLnBrk="1"/>
            <a:r>
              <a:rPr lang="en-IN" dirty="0"/>
              <a:t>     Min       1Q   Median       3Q      Max </a:t>
            </a:r>
          </a:p>
          <a:p>
            <a:pPr latinLnBrk="1"/>
            <a:r>
              <a:rPr lang="en-IN" dirty="0"/>
              <a:t>-10196.9  -2357.9   -646.3   2030.8   8751.6 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Coefficients:</a:t>
            </a:r>
          </a:p>
          <a:p>
            <a:pPr latinLnBrk="1"/>
            <a:r>
              <a:rPr lang="en-IN" dirty="0"/>
              <a:t>             Estimate Std. Error t value </a:t>
            </a:r>
            <a:r>
              <a:rPr lang="en-IN" dirty="0" err="1"/>
              <a:t>Pr</a:t>
            </a:r>
            <a:r>
              <a:rPr lang="en-IN" dirty="0"/>
              <a:t>(&gt;|t|)    </a:t>
            </a:r>
          </a:p>
          <a:p>
            <a:pPr latinLnBrk="1"/>
            <a:r>
              <a:rPr lang="en-IN" dirty="0"/>
              <a:t>(Intercept)    1500.0      664.6   2.257   0.0265 *  </a:t>
            </a:r>
          </a:p>
          <a:p>
            <a:pPr latinLnBrk="1"/>
            <a:r>
              <a:rPr lang="en-IN" dirty="0" err="1"/>
              <a:t>data$Flights</a:t>
            </a:r>
            <a:r>
              <a:rPr lang="en-IN" dirty="0"/>
              <a:t>   2574.2      308.0   8.358 8.59e-13 ***</a:t>
            </a:r>
          </a:p>
          <a:p>
            <a:pPr latinLnBrk="1"/>
            <a:r>
              <a:rPr lang="en-IN" dirty="0"/>
              <a:t>---</a:t>
            </a:r>
          </a:p>
          <a:p>
            <a:pPr latinLnBrk="1"/>
            <a:r>
              <a:rPr lang="en-IN" dirty="0" err="1"/>
              <a:t>Signif</a:t>
            </a:r>
            <a:r>
              <a:rPr lang="en-IN" dirty="0"/>
              <a:t>. codes:  0 ‘***’ 0.001 ‘**’ 0.01 ‘*’ 0.05 ‘.’ 0.1 ‘ ’ 1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 standard error: 3525 on 88 degrees of freedom</a:t>
            </a:r>
          </a:p>
          <a:p>
            <a:pPr latinLnBrk="1"/>
            <a:r>
              <a:rPr lang="en-IN" dirty="0"/>
              <a:t>Multiple R-squared:  0.4425,	Adjusted R-squared:  0.4362 </a:t>
            </a:r>
          </a:p>
          <a:p>
            <a:pPr latinLnBrk="1"/>
            <a:r>
              <a:rPr lang="en-IN" dirty="0"/>
              <a:t>F-statistic: 69.85 on 1 and 88 DF,  p-value: 8.588e-13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&gt; mod3=</a:t>
            </a:r>
            <a:r>
              <a:rPr lang="en-IN" dirty="0" err="1"/>
              <a:t>lm</a:t>
            </a:r>
            <a:r>
              <a:rPr lang="en-IN" dirty="0"/>
              <a:t>(</a:t>
            </a:r>
            <a:r>
              <a:rPr lang="en-IN" dirty="0" err="1"/>
              <a:t>data$PayloadMass~data$Block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&gt; summary(mod3)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Call:</a:t>
            </a:r>
          </a:p>
          <a:p>
            <a:pPr latinLnBrk="1"/>
            <a:r>
              <a:rPr lang="en-IN" dirty="0" err="1"/>
              <a:t>lm</a:t>
            </a:r>
            <a:r>
              <a:rPr lang="en-IN" dirty="0"/>
              <a:t>(formula = </a:t>
            </a:r>
            <a:r>
              <a:rPr lang="en-IN" dirty="0" err="1"/>
              <a:t>data$PayloadMass</a:t>
            </a:r>
            <a:r>
              <a:rPr lang="en-IN" dirty="0"/>
              <a:t> ~ </a:t>
            </a:r>
            <a:r>
              <a:rPr lang="en-IN" dirty="0" err="1"/>
              <a:t>data$Block</a:t>
            </a:r>
            <a:r>
              <a:rPr lang="en-IN" dirty="0"/>
              <a:t>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Residuals:</a:t>
            </a:r>
          </a:p>
          <a:p>
            <a:pPr latinLnBrk="1"/>
            <a:r>
              <a:rPr lang="en-IN" dirty="0"/>
              <a:t>    Min      1Q  Median      3Q     Max </a:t>
            </a:r>
          </a:p>
          <a:p>
            <a:pPr latinLnBrk="1"/>
            <a:r>
              <a:rPr lang="en-IN" dirty="0"/>
              <a:t>-6967.3 -2624.0  -538.2  2371.2  7207.7 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Coefficients:</a:t>
            </a:r>
          </a:p>
          <a:p>
            <a:pPr latinLnBrk="1"/>
            <a:r>
              <a:rPr lang="en-IN" dirty="0"/>
              <a:t>            Estimate Std. Error t value </a:t>
            </a:r>
            <a:r>
              <a:rPr lang="en-IN" dirty="0" err="1"/>
              <a:t>Pr</a:t>
            </a:r>
            <a:r>
              <a:rPr lang="en-IN" dirty="0"/>
              <a:t>(&gt;|t|)    </a:t>
            </a:r>
          </a:p>
          <a:p>
            <a:pPr latinLnBrk="1"/>
            <a:r>
              <a:rPr lang="en-IN" dirty="0"/>
              <a:t>(Intercept)    767.9     1031.0   0.745    0.458    </a:t>
            </a:r>
          </a:p>
          <a:p>
            <a:pPr latinLnBrk="1"/>
            <a:r>
              <a:rPr lang="en-IN" dirty="0" err="1"/>
              <a:t>data$Block</a:t>
            </a:r>
            <a:r>
              <a:rPr lang="en-IN" dirty="0"/>
              <a:t>    1524.9      268.3   5.683 1.69e-07 ***</a:t>
            </a:r>
          </a:p>
          <a:p>
            <a:pPr latinLnBrk="1"/>
            <a:r>
              <a:rPr lang="en-IN" dirty="0"/>
              <a:t>---</a:t>
            </a:r>
          </a:p>
          <a:p>
            <a:pPr latinLnBrk="1"/>
            <a:r>
              <a:rPr lang="en-IN" dirty="0" err="1"/>
              <a:t>Signif</a:t>
            </a:r>
            <a:r>
              <a:rPr lang="en-IN" dirty="0"/>
              <a:t>. codes:  0 ‘***’ 0.001 ‘**’ 0.01 ‘*’ 0.05 ‘.’ 0.1 ‘ ’ 1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 standard error: 4038 on 88 degrees of freedom</a:t>
            </a:r>
          </a:p>
          <a:p>
            <a:pPr latinLnBrk="1"/>
            <a:r>
              <a:rPr lang="en-IN" dirty="0"/>
              <a:t>Multiple R-squared:  0.2685,	Adjusted R-squared:  0.2602 </a:t>
            </a:r>
          </a:p>
          <a:p>
            <a:pPr latinLnBrk="1"/>
            <a:r>
              <a:rPr lang="en-IN" dirty="0"/>
              <a:t>F-statistic:  32.3 on 1 and 88 DF,  p-value: 1.688e-07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&gt; mod4=</a:t>
            </a:r>
            <a:r>
              <a:rPr lang="en-IN" dirty="0" err="1"/>
              <a:t>lm</a:t>
            </a:r>
            <a:r>
              <a:rPr lang="en-IN" dirty="0"/>
              <a:t>(</a:t>
            </a:r>
            <a:r>
              <a:rPr lang="en-IN" dirty="0" err="1"/>
              <a:t>data$PayloadMass~data$Orbit</a:t>
            </a:r>
            <a:r>
              <a:rPr lang="en-IN" dirty="0"/>
              <a:t>)</a:t>
            </a:r>
          </a:p>
          <a:p>
            <a:pPr latinLnBrk="1"/>
            <a:r>
              <a:rPr lang="en-IN" dirty="0"/>
              <a:t>&gt; summary(mod4)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Call:</a:t>
            </a:r>
          </a:p>
          <a:p>
            <a:pPr latinLnBrk="1"/>
            <a:r>
              <a:rPr lang="en-IN" dirty="0" err="1"/>
              <a:t>lm</a:t>
            </a:r>
            <a:r>
              <a:rPr lang="en-IN" dirty="0"/>
              <a:t>(formula = </a:t>
            </a:r>
            <a:r>
              <a:rPr lang="en-IN" dirty="0" err="1"/>
              <a:t>data$PayloadMass</a:t>
            </a:r>
            <a:r>
              <a:rPr lang="en-IN" dirty="0"/>
              <a:t> ~ </a:t>
            </a:r>
            <a:r>
              <a:rPr lang="en-IN" dirty="0" err="1"/>
              <a:t>data$Orbit</a:t>
            </a:r>
            <a:r>
              <a:rPr lang="en-IN" dirty="0"/>
              <a:t>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Residuals:</a:t>
            </a:r>
          </a:p>
          <a:p>
            <a:pPr latinLnBrk="1"/>
            <a:r>
              <a:rPr lang="en-IN" dirty="0"/>
              <a:t>    Min      1Q  Median      3Q     Max </a:t>
            </a:r>
          </a:p>
          <a:p>
            <a:pPr latinLnBrk="1"/>
            <a:r>
              <a:rPr lang="en-IN" dirty="0"/>
              <a:t>-7083.7  -881.2     0.0   776.0  8979.1 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Coefficients:</a:t>
            </a:r>
          </a:p>
          <a:p>
            <a:pPr latinLnBrk="1"/>
            <a:r>
              <a:rPr lang="en-IN" dirty="0"/>
              <a:t>               Estimate Std. Error t value </a:t>
            </a:r>
            <a:r>
              <a:rPr lang="en-IN" dirty="0" err="1"/>
              <a:t>Pr</a:t>
            </a:r>
            <a:r>
              <a:rPr lang="en-IN" dirty="0"/>
              <a:t>(&gt;|t|)    </a:t>
            </a:r>
          </a:p>
          <a:p>
            <a:pPr latinLnBrk="1"/>
            <a:r>
              <a:rPr lang="en-IN" dirty="0"/>
              <a:t>(Intercept)         570       2137   0.267  0.79035    </a:t>
            </a:r>
          </a:p>
          <a:p>
            <a:pPr latinLnBrk="1"/>
            <a:r>
              <a:rPr lang="en-IN" dirty="0" err="1"/>
              <a:t>data$OrbitGEO</a:t>
            </a:r>
            <a:r>
              <a:rPr lang="en-IN" dirty="0"/>
              <a:t>      5535       3022   1.832  0.07078 .  </a:t>
            </a:r>
          </a:p>
          <a:p>
            <a:pPr latinLnBrk="1"/>
            <a:r>
              <a:rPr lang="en-IN" dirty="0" err="1"/>
              <a:t>data$OrbitGTO</a:t>
            </a:r>
            <a:r>
              <a:rPr lang="en-IN" dirty="0"/>
              <a:t>      4442       2176   2.041  0.04456 *  </a:t>
            </a:r>
          </a:p>
          <a:p>
            <a:pPr latinLnBrk="1"/>
            <a:r>
              <a:rPr lang="en-IN" dirty="0" err="1"/>
              <a:t>data$OrbitHEO</a:t>
            </a:r>
            <a:r>
              <a:rPr lang="en-IN" dirty="0"/>
              <a:t>      -220       3022  -0.073  0.94215    </a:t>
            </a:r>
          </a:p>
          <a:p>
            <a:pPr latinLnBrk="1"/>
            <a:r>
              <a:rPr lang="en-IN" dirty="0" err="1"/>
              <a:t>data$OrbitISS</a:t>
            </a:r>
            <a:r>
              <a:rPr lang="en-IN" dirty="0"/>
              <a:t>      2710       2187   1.239  0.21899    </a:t>
            </a:r>
          </a:p>
          <a:p>
            <a:pPr latinLnBrk="1"/>
            <a:r>
              <a:rPr lang="en-IN" dirty="0" err="1"/>
              <a:t>data$OrbitLEO</a:t>
            </a:r>
            <a:r>
              <a:rPr lang="en-IN" dirty="0"/>
              <a:t>      3313       2284   1.450  0.15095    </a:t>
            </a:r>
          </a:p>
          <a:p>
            <a:pPr latinLnBrk="1"/>
            <a:r>
              <a:rPr lang="en-IN" dirty="0" err="1"/>
              <a:t>data$OrbitMEO</a:t>
            </a:r>
            <a:r>
              <a:rPr lang="en-IN" dirty="0"/>
              <a:t>      3417       2467   1.385  0.16999    </a:t>
            </a:r>
          </a:p>
          <a:p>
            <a:pPr latinLnBrk="1"/>
            <a:r>
              <a:rPr lang="en-IN" dirty="0" err="1"/>
              <a:t>data$OrbitPO</a:t>
            </a:r>
            <a:r>
              <a:rPr lang="en-IN" dirty="0"/>
              <a:t>       7014       2252   3.114  0.00257 ** </a:t>
            </a:r>
          </a:p>
          <a:p>
            <a:pPr latinLnBrk="1"/>
            <a:r>
              <a:rPr lang="en-IN" dirty="0" err="1"/>
              <a:t>data$OrbitSO</a:t>
            </a:r>
            <a:r>
              <a:rPr lang="en-IN" dirty="0"/>
              <a:t>       5535       3022   1.832  0.07078 .  </a:t>
            </a:r>
          </a:p>
          <a:p>
            <a:pPr latinLnBrk="1"/>
            <a:r>
              <a:rPr lang="en-IN" dirty="0" err="1"/>
              <a:t>data$OrbitSSO</a:t>
            </a:r>
            <a:r>
              <a:rPr lang="en-IN" dirty="0"/>
              <a:t>      1490       2341   0.637  0.52626    </a:t>
            </a:r>
          </a:p>
          <a:p>
            <a:pPr latinLnBrk="1"/>
            <a:r>
              <a:rPr lang="en-IN" dirty="0" err="1"/>
              <a:t>data$OrbitVLEO</a:t>
            </a:r>
            <a:r>
              <a:rPr lang="en-IN" dirty="0"/>
              <a:t>    14746       2212   6.667 3.22e-09 ***</a:t>
            </a:r>
          </a:p>
          <a:p>
            <a:pPr latinLnBrk="1"/>
            <a:r>
              <a:rPr lang="en-IN" dirty="0"/>
              <a:t>---</a:t>
            </a:r>
          </a:p>
          <a:p>
            <a:pPr latinLnBrk="1"/>
            <a:r>
              <a:rPr lang="en-IN" dirty="0" err="1"/>
              <a:t>Signif</a:t>
            </a:r>
            <a:r>
              <a:rPr lang="en-IN" dirty="0"/>
              <a:t>. codes:  0 ‘***’ 0.001 ‘**’ 0.01 ‘*’ 0.05 ‘.’ 0.1 ‘ ’ 1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 standard error: 2137 on 79 degrees of freedom</a:t>
            </a:r>
          </a:p>
          <a:p>
            <a:pPr latinLnBrk="1"/>
            <a:r>
              <a:rPr lang="en-IN" dirty="0"/>
              <a:t>Multiple R-squared:  0.8161,	Adjusted R-squared:  0.7928 </a:t>
            </a:r>
          </a:p>
          <a:p>
            <a:pPr latinLnBrk="1"/>
            <a:r>
              <a:rPr lang="en-IN" dirty="0"/>
              <a:t>F-statistic: 35.06 on 10 and 79 DF,  p-value: &lt; 2.2e-16</a:t>
            </a:r>
          </a:p>
          <a:p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1505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57E55C-FB1B-3314-24E6-5E51A2D8BEAA}"/>
              </a:ext>
            </a:extLst>
          </p:cNvPr>
          <p:cNvSpPr txBox="1"/>
          <p:nvPr/>
        </p:nvSpPr>
        <p:spPr>
          <a:xfrm>
            <a:off x="844826" y="725557"/>
            <a:ext cx="10227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Response: Payload Mass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83534E-18C1-DB91-5262-2DCFEC0D7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233914"/>
              </p:ext>
            </p:extLst>
          </p:nvPr>
        </p:nvGraphicFramePr>
        <p:xfrm>
          <a:off x="928756" y="1500440"/>
          <a:ext cx="8127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458112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435165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024589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R-Square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Adjusted R-Squared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8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Flight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0.3556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0.3483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92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0.4425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0.4362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91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0.2685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0.2602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52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Orbit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0.8161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0.7928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477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4FA7165-403B-AA9F-2B1C-341E51CB1B13}"/>
              </a:ext>
            </a:extLst>
          </p:cNvPr>
          <p:cNvSpPr txBox="1"/>
          <p:nvPr/>
        </p:nvSpPr>
        <p:spPr>
          <a:xfrm>
            <a:off x="844826" y="5059017"/>
            <a:ext cx="8984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Thus we see that the model in which Payload Mass is regressed on the Orbit shows the highest adjusted R-Square.</a:t>
            </a:r>
          </a:p>
          <a:p>
            <a:r>
              <a:rPr lang="en-IN" sz="2400" dirty="0"/>
              <a:t>Observation: Model 4 is the best fit.</a:t>
            </a:r>
          </a:p>
        </p:txBody>
      </p:sp>
    </p:spTree>
    <p:extLst>
      <p:ext uri="{BB962C8B-B14F-4D97-AF65-F5344CB8AC3E}">
        <p14:creationId xmlns:p14="http://schemas.microsoft.com/office/powerpoint/2010/main" val="235133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E6860F-0A67-1E22-C15A-0BF38202552B}"/>
              </a:ext>
            </a:extLst>
          </p:cNvPr>
          <p:cNvSpPr txBox="1"/>
          <p:nvPr/>
        </p:nvSpPr>
        <p:spPr>
          <a:xfrm>
            <a:off x="636104" y="646043"/>
            <a:ext cx="10575235" cy="1200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/>
              <a:t>Multiple Linear Regression of Payload Mass on the Above Predictors:</a:t>
            </a:r>
          </a:p>
          <a:p>
            <a:pPr latinLnBrk="1"/>
            <a:r>
              <a:rPr lang="en-IN" dirty="0"/>
              <a:t>mod5=</a:t>
            </a:r>
            <a:r>
              <a:rPr lang="en-IN" dirty="0" err="1"/>
              <a:t>lm</a:t>
            </a:r>
            <a:r>
              <a:rPr lang="en-IN" dirty="0"/>
              <a:t>(data$PayloadMass~data$FlightNumber+data$Flights+data$Block+data$Orbit)</a:t>
            </a:r>
          </a:p>
          <a:p>
            <a:pPr latinLnBrk="1"/>
            <a:r>
              <a:rPr lang="en-IN" dirty="0"/>
              <a:t>&gt; summary(mod5)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Call:</a:t>
            </a:r>
          </a:p>
          <a:p>
            <a:pPr latinLnBrk="1"/>
            <a:r>
              <a:rPr lang="en-IN" dirty="0" err="1"/>
              <a:t>lm</a:t>
            </a:r>
            <a:r>
              <a:rPr lang="en-IN" dirty="0"/>
              <a:t>(formula = </a:t>
            </a:r>
            <a:r>
              <a:rPr lang="en-IN" dirty="0" err="1"/>
              <a:t>data$PayloadMass</a:t>
            </a:r>
            <a:r>
              <a:rPr lang="en-IN" dirty="0"/>
              <a:t> ~ </a:t>
            </a:r>
            <a:r>
              <a:rPr lang="en-IN" dirty="0" err="1"/>
              <a:t>data$FlightNumber</a:t>
            </a:r>
            <a:r>
              <a:rPr lang="en-IN" dirty="0"/>
              <a:t> + </a:t>
            </a:r>
            <a:r>
              <a:rPr lang="en-IN" dirty="0" err="1"/>
              <a:t>data$Flights</a:t>
            </a:r>
            <a:r>
              <a:rPr lang="en-IN" dirty="0"/>
              <a:t> + </a:t>
            </a:r>
          </a:p>
          <a:p>
            <a:pPr latinLnBrk="1"/>
            <a:r>
              <a:rPr lang="en-IN" dirty="0"/>
              <a:t>    </a:t>
            </a:r>
            <a:r>
              <a:rPr lang="en-IN" dirty="0" err="1"/>
              <a:t>data$Block</a:t>
            </a:r>
            <a:r>
              <a:rPr lang="en-IN" dirty="0"/>
              <a:t> + </a:t>
            </a:r>
            <a:r>
              <a:rPr lang="en-IN" dirty="0" err="1"/>
              <a:t>data$Orbit</a:t>
            </a:r>
            <a:r>
              <a:rPr lang="en-IN" dirty="0"/>
              <a:t>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Residuals:</a:t>
            </a:r>
          </a:p>
          <a:p>
            <a:pPr latinLnBrk="1"/>
            <a:r>
              <a:rPr lang="en-IN" dirty="0"/>
              <a:t>    Min      1Q  Median      3Q     Max </a:t>
            </a:r>
          </a:p>
          <a:p>
            <a:pPr latinLnBrk="1"/>
            <a:r>
              <a:rPr lang="en-IN" dirty="0"/>
              <a:t>-5466.0  -660.7   122.8   695.9  7318.7 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Coefficients:</a:t>
            </a:r>
          </a:p>
          <a:p>
            <a:pPr latinLnBrk="1"/>
            <a:r>
              <a:rPr lang="en-IN" dirty="0"/>
              <a:t>                  Estimate Std. Error t value </a:t>
            </a:r>
            <a:r>
              <a:rPr lang="en-IN" dirty="0" err="1"/>
              <a:t>Pr</a:t>
            </a:r>
            <a:r>
              <a:rPr lang="en-IN" dirty="0"/>
              <a:t>(&gt;|t|)    </a:t>
            </a:r>
          </a:p>
          <a:p>
            <a:pPr latinLnBrk="1"/>
            <a:r>
              <a:rPr lang="en-IN" dirty="0"/>
              <a:t>(Intercept)          16.44    1874.36   0.009  0.99302    </a:t>
            </a:r>
          </a:p>
          <a:p>
            <a:pPr latinLnBrk="1"/>
            <a:r>
              <a:rPr lang="en-IN" dirty="0" err="1"/>
              <a:t>data$FlightNumber</a:t>
            </a:r>
            <a:r>
              <a:rPr lang="en-IN" dirty="0"/>
              <a:t>    22.87      30.46   0.751  0.45520    </a:t>
            </a:r>
          </a:p>
          <a:p>
            <a:pPr latinLnBrk="1"/>
            <a:r>
              <a:rPr lang="en-IN" dirty="0" err="1"/>
              <a:t>data$Flights</a:t>
            </a:r>
            <a:r>
              <a:rPr lang="en-IN" dirty="0"/>
              <a:t>       -304.89     323.17  -0.943  0.34844    </a:t>
            </a:r>
          </a:p>
          <a:p>
            <a:pPr latinLnBrk="1"/>
            <a:r>
              <a:rPr lang="en-IN" dirty="0" err="1"/>
              <a:t>data$Block</a:t>
            </a:r>
            <a:r>
              <a:rPr lang="en-IN" dirty="0"/>
              <a:t>          561.18     404.27   1.388  0.16915    </a:t>
            </a:r>
          </a:p>
          <a:p>
            <a:pPr latinLnBrk="1"/>
            <a:r>
              <a:rPr lang="en-IN" dirty="0" err="1"/>
              <a:t>data$OrbitGEO</a:t>
            </a:r>
            <a:r>
              <a:rPr lang="en-IN" dirty="0"/>
              <a:t>      1994.47    2737.81   0.728  0.46855    </a:t>
            </a:r>
          </a:p>
          <a:p>
            <a:pPr latinLnBrk="1"/>
            <a:r>
              <a:rPr lang="en-IN" dirty="0" err="1"/>
              <a:t>data$OrbitGTO</a:t>
            </a:r>
            <a:r>
              <a:rPr lang="en-IN" dirty="0"/>
              <a:t>      2919.15    1912.05   1.527  0.13098    </a:t>
            </a:r>
          </a:p>
          <a:p>
            <a:pPr latinLnBrk="1"/>
            <a:r>
              <a:rPr lang="en-IN" dirty="0" err="1"/>
              <a:t>data$OrbitHEO</a:t>
            </a:r>
            <a:r>
              <a:rPr lang="en-IN" dirty="0"/>
              <a:t>     -2726.74    2656.32  -1.027  0.30791    </a:t>
            </a:r>
          </a:p>
          <a:p>
            <a:pPr latinLnBrk="1"/>
            <a:r>
              <a:rPr lang="en-IN" dirty="0" err="1"/>
              <a:t>data$OrbitISS</a:t>
            </a:r>
            <a:r>
              <a:rPr lang="en-IN" dirty="0"/>
              <a:t>       982.20    1919.62   0.512  0.61037    </a:t>
            </a:r>
          </a:p>
          <a:p>
            <a:pPr latinLnBrk="1"/>
            <a:r>
              <a:rPr lang="en-IN" dirty="0" err="1"/>
              <a:t>data$OrbitLEO</a:t>
            </a:r>
            <a:r>
              <a:rPr lang="en-IN" dirty="0"/>
              <a:t>      2511.42    1995.31   1.259  0.21200    </a:t>
            </a:r>
          </a:p>
          <a:p>
            <a:pPr latinLnBrk="1"/>
            <a:r>
              <a:rPr lang="en-IN" dirty="0" err="1"/>
              <a:t>data$OrbitMEO</a:t>
            </a:r>
            <a:r>
              <a:rPr lang="en-IN" dirty="0"/>
              <a:t>      -306.43    2276.91  -0.135  0.89330    </a:t>
            </a:r>
          </a:p>
          <a:p>
            <a:pPr latinLnBrk="1"/>
            <a:r>
              <a:rPr lang="en-IN" dirty="0" err="1"/>
              <a:t>data$OrbitPO</a:t>
            </a:r>
            <a:r>
              <a:rPr lang="en-IN" dirty="0"/>
              <a:t>       5334.67    1982.94   2.690  0.00877 ** </a:t>
            </a:r>
          </a:p>
          <a:p>
            <a:pPr latinLnBrk="1"/>
            <a:r>
              <a:rPr lang="en-IN" dirty="0" err="1"/>
              <a:t>data$OrbitSO</a:t>
            </a:r>
            <a:r>
              <a:rPr lang="en-IN" dirty="0"/>
              <a:t>       2832.91    2780.47   1.019  0.31150    </a:t>
            </a:r>
          </a:p>
          <a:p>
            <a:pPr latinLnBrk="1"/>
            <a:r>
              <a:rPr lang="en-IN" dirty="0" err="1"/>
              <a:t>data$OrbitSSO</a:t>
            </a:r>
            <a:r>
              <a:rPr lang="en-IN" dirty="0"/>
              <a:t>     -1196.43    2113.46  -0.566  0.57299    </a:t>
            </a:r>
          </a:p>
          <a:p>
            <a:pPr latinLnBrk="1"/>
            <a:r>
              <a:rPr lang="en-IN" dirty="0" err="1"/>
              <a:t>data$OrbitVLEO</a:t>
            </a:r>
            <a:r>
              <a:rPr lang="en-IN" dirty="0"/>
              <a:t>    11886.32    2136.44   5.564 3.78e-07 ***</a:t>
            </a:r>
          </a:p>
          <a:p>
            <a:pPr latinLnBrk="1"/>
            <a:r>
              <a:rPr lang="en-IN" dirty="0"/>
              <a:t>---</a:t>
            </a:r>
          </a:p>
          <a:p>
            <a:pPr latinLnBrk="1"/>
            <a:r>
              <a:rPr lang="en-IN" dirty="0" err="1"/>
              <a:t>Signif</a:t>
            </a:r>
            <a:r>
              <a:rPr lang="en-IN" dirty="0"/>
              <a:t>. codes:  0 ‘***’ 0.001 ‘**’ 0.01 ‘*’ 0.05 ‘.’ 0.1 ‘ ’ 1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Residual standard error: 1848 on 76 degrees of freedom</a:t>
            </a:r>
          </a:p>
          <a:p>
            <a:pPr latinLnBrk="1"/>
            <a:r>
              <a:rPr lang="en-IN" dirty="0"/>
              <a:t>Multiple R-squared:  0.8677,	Adjusted R-squared:  0.845 </a:t>
            </a:r>
          </a:p>
          <a:p>
            <a:pPr latinLnBrk="1"/>
            <a:r>
              <a:rPr lang="en-IN" dirty="0"/>
              <a:t>F-statistic: 38.33 on 13 and 76 DF,  p-value: &lt; 2.2e-16</a:t>
            </a:r>
          </a:p>
          <a:p>
            <a:br>
              <a:rPr lang="en-IN" sz="3600" dirty="0"/>
            </a:br>
            <a:r>
              <a:rPr lang="en-IN" sz="3600" dirty="0"/>
              <a:t>Observations: </a:t>
            </a:r>
            <a:r>
              <a:rPr lang="en-IN" sz="3600" dirty="0" err="1"/>
              <a:t>OrbitPO</a:t>
            </a:r>
            <a:r>
              <a:rPr lang="en-IN" sz="3600" dirty="0"/>
              <a:t> and </a:t>
            </a:r>
            <a:r>
              <a:rPr lang="en-IN" sz="3600" dirty="0" err="1"/>
              <a:t>OrbitVLEO</a:t>
            </a:r>
            <a:r>
              <a:rPr lang="en-IN" sz="3600" dirty="0"/>
              <a:t> significantly affects the Payload Mass of the Rocket at 5% level.</a:t>
            </a:r>
          </a:p>
        </p:txBody>
      </p:sp>
    </p:spTree>
    <p:extLst>
      <p:ext uri="{BB962C8B-B14F-4D97-AF65-F5344CB8AC3E}">
        <p14:creationId xmlns:p14="http://schemas.microsoft.com/office/powerpoint/2010/main" val="245090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B067DB-2A8E-095C-29A2-DADAC3D11A0F}"/>
              </a:ext>
            </a:extLst>
          </p:cNvPr>
          <p:cNvSpPr txBox="1"/>
          <p:nvPr/>
        </p:nvSpPr>
        <p:spPr>
          <a:xfrm>
            <a:off x="526774" y="477078"/>
            <a:ext cx="11340548" cy="1394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Fitting the Logistic Regression:</a:t>
            </a:r>
          </a:p>
          <a:p>
            <a:pPr latinLnBrk="1"/>
            <a:r>
              <a:rPr lang="en-IN" dirty="0" err="1"/>
              <a:t>glm</a:t>
            </a:r>
            <a:r>
              <a:rPr lang="en-IN" dirty="0"/>
              <a:t>(formula = </a:t>
            </a:r>
            <a:r>
              <a:rPr lang="en-IN" dirty="0" err="1"/>
              <a:t>data$Class</a:t>
            </a:r>
            <a:r>
              <a:rPr lang="en-IN" dirty="0"/>
              <a:t> ~ </a:t>
            </a:r>
            <a:r>
              <a:rPr lang="en-IN" dirty="0" err="1"/>
              <a:t>data$PayloadMass</a:t>
            </a:r>
            <a:r>
              <a:rPr lang="en-IN" dirty="0"/>
              <a:t> + </a:t>
            </a:r>
            <a:r>
              <a:rPr lang="en-IN" dirty="0" err="1"/>
              <a:t>data$FlightNumber</a:t>
            </a:r>
            <a:r>
              <a:rPr lang="en-IN" dirty="0"/>
              <a:t> + </a:t>
            </a:r>
          </a:p>
          <a:p>
            <a:pPr latinLnBrk="1"/>
            <a:r>
              <a:rPr lang="en-IN" dirty="0"/>
              <a:t>    </a:t>
            </a:r>
            <a:r>
              <a:rPr lang="en-IN" dirty="0" err="1"/>
              <a:t>data$Flights</a:t>
            </a:r>
            <a:r>
              <a:rPr lang="en-IN" dirty="0"/>
              <a:t> + </a:t>
            </a:r>
            <a:r>
              <a:rPr lang="en-IN" dirty="0" err="1"/>
              <a:t>data$Orbit</a:t>
            </a:r>
            <a:r>
              <a:rPr lang="en-IN" dirty="0"/>
              <a:t> + </a:t>
            </a:r>
            <a:r>
              <a:rPr lang="en-IN" dirty="0" err="1"/>
              <a:t>data$Block</a:t>
            </a:r>
            <a:r>
              <a:rPr lang="en-IN" dirty="0"/>
              <a:t>, family = "binomial")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Deviance Residuals: </a:t>
            </a:r>
          </a:p>
          <a:p>
            <a:pPr latinLnBrk="1"/>
            <a:r>
              <a:rPr lang="en-IN" dirty="0"/>
              <a:t>    Min       1Q   Median       3Q      Max  </a:t>
            </a:r>
          </a:p>
          <a:p>
            <a:pPr latinLnBrk="1"/>
            <a:r>
              <a:rPr lang="en-IN" dirty="0"/>
              <a:t>-2.2570  -0.7873   0.3171   0.7459   1.7442  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Coefficients:</a:t>
            </a:r>
          </a:p>
          <a:p>
            <a:pPr latinLnBrk="1"/>
            <a:r>
              <a:rPr lang="en-IN" dirty="0"/>
              <a:t>                    Estimate Std. Error z value </a:t>
            </a:r>
            <a:r>
              <a:rPr lang="en-IN" dirty="0" err="1"/>
              <a:t>Pr</a:t>
            </a:r>
            <a:r>
              <a:rPr lang="en-IN" dirty="0"/>
              <a:t>(&gt;|z|)  </a:t>
            </a:r>
          </a:p>
          <a:p>
            <a:pPr latinLnBrk="1"/>
            <a:r>
              <a:rPr lang="en-IN" dirty="0"/>
              <a:t>(Intercept)        1.754e+01  3.956e+03   0.004   0.9965  </a:t>
            </a:r>
          </a:p>
          <a:p>
            <a:pPr latinLnBrk="1"/>
            <a:r>
              <a:rPr lang="en-IN" dirty="0" err="1"/>
              <a:t>data$PayloadMass</a:t>
            </a:r>
            <a:r>
              <a:rPr lang="en-IN" dirty="0"/>
              <a:t>   2.455e-05  1.671e-04   0.147   0.8832  </a:t>
            </a:r>
          </a:p>
          <a:p>
            <a:pPr latinLnBrk="1"/>
            <a:r>
              <a:rPr lang="en-IN" dirty="0" err="1"/>
              <a:t>data$FlightNumber</a:t>
            </a:r>
            <a:r>
              <a:rPr lang="en-IN" dirty="0"/>
              <a:t>  8.796e-02  5.235e-02   1.680   0.0929 .</a:t>
            </a:r>
          </a:p>
          <a:p>
            <a:pPr latinLnBrk="1"/>
            <a:r>
              <a:rPr lang="en-IN" dirty="0" err="1"/>
              <a:t>data$Flights</a:t>
            </a:r>
            <a:r>
              <a:rPr lang="en-IN" dirty="0"/>
              <a:t>      -8.948e-01  6.045e-01  -1.480   0.1388  </a:t>
            </a:r>
          </a:p>
          <a:p>
            <a:pPr latinLnBrk="1"/>
            <a:r>
              <a:rPr lang="en-IN" dirty="0" err="1"/>
              <a:t>data$OrbitGEO</a:t>
            </a:r>
            <a:r>
              <a:rPr lang="en-IN" dirty="0"/>
              <a:t>     -4.470e+00  5.595e+03  -0.001   0.9994  </a:t>
            </a:r>
          </a:p>
          <a:p>
            <a:pPr latinLnBrk="1"/>
            <a:r>
              <a:rPr lang="en-IN" dirty="0" err="1"/>
              <a:t>data$OrbitGTO</a:t>
            </a:r>
            <a:r>
              <a:rPr lang="en-IN" dirty="0"/>
              <a:t>     -1.869e+01  3.956e+03  -0.005   0.9962  </a:t>
            </a:r>
          </a:p>
          <a:p>
            <a:pPr latinLnBrk="1"/>
            <a:r>
              <a:rPr lang="en-IN" dirty="0" err="1"/>
              <a:t>data$OrbitHEO</a:t>
            </a:r>
            <a:r>
              <a:rPr lang="en-IN" dirty="0"/>
              <a:t>     -2.465e+00  5.595e+03   0.000   0.9996  </a:t>
            </a:r>
          </a:p>
          <a:p>
            <a:pPr latinLnBrk="1"/>
            <a:r>
              <a:rPr lang="en-IN" dirty="0" err="1"/>
              <a:t>data$OrbitISS</a:t>
            </a:r>
            <a:r>
              <a:rPr lang="en-IN" dirty="0"/>
              <a:t>     -1.836e+01  3.956e+03  -0.005   0.9963  </a:t>
            </a:r>
          </a:p>
          <a:p>
            <a:pPr latinLnBrk="1"/>
            <a:r>
              <a:rPr lang="en-IN" dirty="0" err="1"/>
              <a:t>data$OrbitLEO</a:t>
            </a:r>
            <a:r>
              <a:rPr lang="en-IN" dirty="0"/>
              <a:t>     -1.680e+01  3.956e+03  -0.004   0.9966  </a:t>
            </a:r>
          </a:p>
          <a:p>
            <a:pPr latinLnBrk="1"/>
            <a:r>
              <a:rPr lang="en-IN" dirty="0" err="1"/>
              <a:t>data$OrbitMEO</a:t>
            </a:r>
            <a:r>
              <a:rPr lang="en-IN" dirty="0"/>
              <a:t>     -2.156e+01  3.956e+03  -0.005   0.9957  </a:t>
            </a:r>
          </a:p>
          <a:p>
            <a:pPr latinLnBrk="1"/>
            <a:r>
              <a:rPr lang="en-IN" dirty="0" err="1"/>
              <a:t>data$OrbitPO</a:t>
            </a:r>
            <a:r>
              <a:rPr lang="en-IN" dirty="0"/>
              <a:t>      -1.816e+01  3.956e+03  -0.005   0.9963  </a:t>
            </a:r>
          </a:p>
          <a:p>
            <a:pPr latinLnBrk="1"/>
            <a:r>
              <a:rPr lang="en-IN" dirty="0" err="1"/>
              <a:t>data$OrbitSO</a:t>
            </a:r>
            <a:r>
              <a:rPr lang="en-IN" dirty="0"/>
              <a:t>      -3.693e+01  5.595e+03  -0.007   0.9947  </a:t>
            </a:r>
          </a:p>
          <a:p>
            <a:pPr latinLnBrk="1"/>
            <a:r>
              <a:rPr lang="en-IN" dirty="0" err="1"/>
              <a:t>data$OrbitSSO</a:t>
            </a:r>
            <a:r>
              <a:rPr lang="en-IN" dirty="0"/>
              <a:t>     -2.086e+00  4.302e+03   0.000   0.9996  </a:t>
            </a:r>
          </a:p>
          <a:p>
            <a:pPr latinLnBrk="1"/>
            <a:r>
              <a:rPr lang="en-IN" dirty="0" err="1"/>
              <a:t>data$OrbitVLEO</a:t>
            </a:r>
            <a:r>
              <a:rPr lang="en-IN" dirty="0"/>
              <a:t>    -1.799e+01  3.956e+03  -0.005   0.9964  </a:t>
            </a:r>
          </a:p>
          <a:p>
            <a:pPr latinLnBrk="1"/>
            <a:r>
              <a:rPr lang="en-IN" dirty="0" err="1"/>
              <a:t>data$Block</a:t>
            </a:r>
            <a:r>
              <a:rPr lang="en-IN" dirty="0"/>
              <a:t>        -2.322e-01  6.162e-01  -0.377   0.7063  </a:t>
            </a:r>
          </a:p>
          <a:p>
            <a:pPr latinLnBrk="1"/>
            <a:r>
              <a:rPr lang="en-IN" dirty="0"/>
              <a:t>---</a:t>
            </a:r>
          </a:p>
          <a:p>
            <a:pPr latinLnBrk="1"/>
            <a:r>
              <a:rPr lang="en-IN" dirty="0" err="1"/>
              <a:t>Signif</a:t>
            </a:r>
            <a:r>
              <a:rPr lang="en-IN" dirty="0"/>
              <a:t>. codes:  0 ‘***’ 0.001 ‘**’ 0.01 ‘*’ 0.05 ‘.’ 0.1 ‘ ’ 1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(Dispersion parameter for binomial family taken to be 1)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    Null deviance: 114.573  on 89  degrees of freedom</a:t>
            </a:r>
          </a:p>
          <a:p>
            <a:pPr latinLnBrk="1"/>
            <a:r>
              <a:rPr lang="en-IN" dirty="0"/>
              <a:t>Residual deviance:  82.041  on 75  degrees of freedom</a:t>
            </a:r>
          </a:p>
          <a:p>
            <a:pPr latinLnBrk="1"/>
            <a:r>
              <a:rPr lang="en-IN" dirty="0"/>
              <a:t>AIC: 112.04</a:t>
            </a:r>
          </a:p>
          <a:p>
            <a:pPr latinLnBrk="1"/>
            <a:endParaRPr lang="en-IN" dirty="0"/>
          </a:p>
          <a:p>
            <a:pPr latinLnBrk="1"/>
            <a:r>
              <a:rPr lang="en-IN" dirty="0"/>
              <a:t>Number of Fisher Scoring iterations: 16</a:t>
            </a:r>
          </a:p>
          <a:p>
            <a:r>
              <a:rPr lang="en-IN" sz="3600" dirty="0"/>
              <a:t>Actions: Here we fit the logistic regression of Class on Payload Mass, Flight number, Flights, Orbit and Block.</a:t>
            </a:r>
          </a:p>
          <a:p>
            <a:r>
              <a:rPr lang="en-IN" sz="3600" dirty="0"/>
              <a:t>Observations: </a:t>
            </a:r>
          </a:p>
          <a:p>
            <a:r>
              <a:rPr lang="en-IN" sz="3600" dirty="0"/>
              <a:t>1)Newer Blocks have a lower probability of landing success</a:t>
            </a:r>
          </a:p>
          <a:p>
            <a:r>
              <a:rPr lang="en-IN" sz="3600" dirty="0"/>
              <a:t>2)None of the Predictors have a measurable impact on the outcome</a:t>
            </a:r>
          </a:p>
        </p:txBody>
      </p:sp>
    </p:spTree>
    <p:extLst>
      <p:ext uri="{BB962C8B-B14F-4D97-AF65-F5344CB8AC3E}">
        <p14:creationId xmlns:p14="http://schemas.microsoft.com/office/powerpoint/2010/main" val="328902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E8D0A2-CE63-F35C-5F69-17F59E1BCD53}"/>
              </a:ext>
            </a:extLst>
          </p:cNvPr>
          <p:cNvSpPr txBox="1"/>
          <p:nvPr/>
        </p:nvSpPr>
        <p:spPr>
          <a:xfrm>
            <a:off x="695739" y="566530"/>
            <a:ext cx="10257183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Which approach is better: Logistic or Multiple Regression?</a:t>
            </a:r>
          </a:p>
          <a:p>
            <a:endParaRPr lang="en-IN" sz="3600" dirty="0"/>
          </a:p>
          <a:p>
            <a:r>
              <a:rPr lang="en-IN" sz="3600" dirty="0"/>
              <a:t>Both Multiple and Logistic Regression has significant role in the data analysis of </a:t>
            </a:r>
            <a:r>
              <a:rPr lang="en-IN" sz="3600" dirty="0" err="1"/>
              <a:t>Spacex</a:t>
            </a:r>
            <a:r>
              <a:rPr lang="en-IN" sz="3600" dirty="0"/>
              <a:t> Data, but logistic regression is the better approach in this dataset.</a:t>
            </a:r>
          </a:p>
          <a:p>
            <a:r>
              <a:rPr lang="en-IN" sz="3600" dirty="0"/>
              <a:t>Reasons:</a:t>
            </a:r>
          </a:p>
          <a:p>
            <a:pPr marL="742950" indent="-742950">
              <a:buAutoNum type="arabicParenR"/>
            </a:pPr>
            <a:r>
              <a:rPr lang="en-IN" sz="3600" dirty="0"/>
              <a:t>It has the ability to predict a categorical variable.</a:t>
            </a:r>
          </a:p>
          <a:p>
            <a:pPr marL="742950" indent="-742950">
              <a:buAutoNum type="arabicParenR"/>
            </a:pPr>
            <a:r>
              <a:rPr lang="en-IN" sz="3600" dirty="0"/>
              <a:t>In </a:t>
            </a:r>
            <a:r>
              <a:rPr lang="en-IN" sz="3600" dirty="0" err="1"/>
              <a:t>Spacex</a:t>
            </a:r>
            <a:r>
              <a:rPr lang="en-IN" sz="3600" dirty="0"/>
              <a:t> dataset it is efficient in predicting a success and a failure.</a:t>
            </a:r>
          </a:p>
          <a:p>
            <a:pPr marL="742950" indent="-742950">
              <a:buAutoNum type="arabicParenR"/>
            </a:pPr>
            <a:r>
              <a:rPr lang="en-IN" sz="3600" dirty="0"/>
              <a:t>It achieves an accuracy of 85% on test data.</a:t>
            </a:r>
          </a:p>
          <a:p>
            <a:endParaRPr lang="en-IN" sz="3600" dirty="0"/>
          </a:p>
          <a:p>
            <a:r>
              <a:rPr lang="en-IN" sz="3600" dirty="0"/>
              <a:t>Conclusion: If we want to predict the launch costs we use Multiple Linear Regression. If we want to predict whether the rocket lands we use Logistic Regression.</a:t>
            </a:r>
          </a:p>
        </p:txBody>
      </p:sp>
    </p:spTree>
    <p:extLst>
      <p:ext uri="{BB962C8B-B14F-4D97-AF65-F5344CB8AC3E}">
        <p14:creationId xmlns:p14="http://schemas.microsoft.com/office/powerpoint/2010/main" val="114249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1D56C-3554-E58E-F261-94AF5F57F329}"/>
              </a:ext>
            </a:extLst>
          </p:cNvPr>
          <p:cNvSpPr txBox="1"/>
          <p:nvPr/>
        </p:nvSpPr>
        <p:spPr>
          <a:xfrm>
            <a:off x="894522" y="874643"/>
            <a:ext cx="89551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7420172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118</TotalTime>
  <Words>3098</Words>
  <Application>Microsoft Office PowerPoint</Application>
  <PresentationFormat>Widescreen</PresentationFormat>
  <Paragraphs>394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Gallery</vt:lpstr>
      <vt:lpstr>Data Analysis of SpaceX Launch Missions-Soham Adhikary, Roll no: 725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Soham Adhikary</dc:creator>
  <cp:lastModifiedBy>Soham Adhikary</cp:lastModifiedBy>
  <cp:revision>2</cp:revision>
  <dcterms:created xsi:type="dcterms:W3CDTF">2026-04-16T14:31:42Z</dcterms:created>
  <dcterms:modified xsi:type="dcterms:W3CDTF">2026-04-30T07:53:23Z</dcterms:modified>
</cp:coreProperties>
</file>